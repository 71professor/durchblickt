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9753600" cy="14630400"/>
  <p:notesSz cx="6858000" cy="9144000"/>
  <p:embeddedFontLst>
    <p:embeddedFont>
      <p:font typeface="Arial MT Pro" panose="020B0604020202020204" charset="0"/>
      <p:regular r:id="rId3"/>
    </p:embeddedFont>
    <p:embeddedFont>
      <p:font typeface="Roboto" panose="02000000000000000000" pitchFamily="2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276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sv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19375" y="0"/>
            <a:ext cx="4133850" cy="733425"/>
          </a:xfrm>
          <a:custGeom>
            <a:avLst/>
            <a:gdLst/>
            <a:ahLst/>
            <a:cxnLst/>
            <a:rect l="l" t="t" r="r" b="b"/>
            <a:pathLst>
              <a:path w="4133850" h="733425">
                <a:moveTo>
                  <a:pt x="0" y="0"/>
                </a:moveTo>
                <a:lnTo>
                  <a:pt x="4133850" y="0"/>
                </a:lnTo>
                <a:lnTo>
                  <a:pt x="413385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180975" y="2371725"/>
            <a:ext cx="2828925" cy="371475"/>
          </a:xfrm>
          <a:custGeom>
            <a:avLst/>
            <a:gdLst/>
            <a:ahLst/>
            <a:cxnLst/>
            <a:rect l="l" t="t" r="r" b="b"/>
            <a:pathLst>
              <a:path w="2828925" h="371475">
                <a:moveTo>
                  <a:pt x="0" y="0"/>
                </a:moveTo>
                <a:lnTo>
                  <a:pt x="2828925" y="0"/>
                </a:lnTo>
                <a:lnTo>
                  <a:pt x="282892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>
            <a:off x="3181350" y="2371725"/>
            <a:ext cx="3009900" cy="371475"/>
          </a:xfrm>
          <a:custGeom>
            <a:avLst/>
            <a:gdLst/>
            <a:ahLst/>
            <a:cxnLst/>
            <a:rect l="l" t="t" r="r" b="b"/>
            <a:pathLst>
              <a:path w="3009900" h="371475">
                <a:moveTo>
                  <a:pt x="0" y="0"/>
                </a:moveTo>
                <a:lnTo>
                  <a:pt x="3009900" y="0"/>
                </a:lnTo>
                <a:lnTo>
                  <a:pt x="300990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>
            <a:off x="6372225" y="2371725"/>
            <a:ext cx="3009900" cy="371475"/>
          </a:xfrm>
          <a:custGeom>
            <a:avLst/>
            <a:gdLst/>
            <a:ahLst/>
            <a:cxnLst/>
            <a:rect l="l" t="t" r="r" b="b"/>
            <a:pathLst>
              <a:path w="3009900" h="371475">
                <a:moveTo>
                  <a:pt x="0" y="0"/>
                </a:moveTo>
                <a:lnTo>
                  <a:pt x="3009900" y="0"/>
                </a:lnTo>
                <a:lnTo>
                  <a:pt x="300990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>
            <a:off x="371475" y="3838575"/>
            <a:ext cx="1695450" cy="1838325"/>
          </a:xfrm>
          <a:custGeom>
            <a:avLst/>
            <a:gdLst/>
            <a:ahLst/>
            <a:cxnLst/>
            <a:rect l="l" t="t" r="r" b="b"/>
            <a:pathLst>
              <a:path w="1695450" h="1838325">
                <a:moveTo>
                  <a:pt x="0" y="0"/>
                </a:moveTo>
                <a:lnTo>
                  <a:pt x="1695450" y="0"/>
                </a:lnTo>
                <a:lnTo>
                  <a:pt x="1695450" y="1838325"/>
                </a:lnTo>
                <a:lnTo>
                  <a:pt x="0" y="1838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>
            <a:off x="1123950" y="4572000"/>
            <a:ext cx="1314450" cy="190500"/>
          </a:xfrm>
          <a:custGeom>
            <a:avLst/>
            <a:gdLst/>
            <a:ahLst/>
            <a:cxnLst/>
            <a:rect l="l" t="t" r="r" b="b"/>
            <a:pathLst>
              <a:path w="1314450" h="190500">
                <a:moveTo>
                  <a:pt x="0" y="0"/>
                </a:moveTo>
                <a:lnTo>
                  <a:pt x="1314450" y="0"/>
                </a:lnTo>
                <a:lnTo>
                  <a:pt x="131445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/>
          <p:cNvSpPr/>
          <p:nvPr/>
        </p:nvSpPr>
        <p:spPr>
          <a:xfrm>
            <a:off x="180975" y="5486400"/>
            <a:ext cx="2828925" cy="1285875"/>
          </a:xfrm>
          <a:custGeom>
            <a:avLst/>
            <a:gdLst/>
            <a:ahLst/>
            <a:cxnLst/>
            <a:rect l="l" t="t" r="r" b="b"/>
            <a:pathLst>
              <a:path w="2828925" h="1285875">
                <a:moveTo>
                  <a:pt x="0" y="0"/>
                </a:moveTo>
                <a:lnTo>
                  <a:pt x="2828925" y="0"/>
                </a:lnTo>
                <a:lnTo>
                  <a:pt x="28289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/>
          <p:cNvSpPr/>
          <p:nvPr/>
        </p:nvSpPr>
        <p:spPr>
          <a:xfrm>
            <a:off x="371475" y="5848350"/>
            <a:ext cx="762000" cy="742950"/>
          </a:xfrm>
          <a:custGeom>
            <a:avLst/>
            <a:gdLst/>
            <a:ahLst/>
            <a:cxnLst/>
            <a:rect l="l" t="t" r="r" b="b"/>
            <a:pathLst>
              <a:path w="762000" h="742950">
                <a:moveTo>
                  <a:pt x="0" y="0"/>
                </a:moveTo>
                <a:lnTo>
                  <a:pt x="762000" y="0"/>
                </a:lnTo>
                <a:lnTo>
                  <a:pt x="76200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/>
          <p:cNvSpPr/>
          <p:nvPr/>
        </p:nvSpPr>
        <p:spPr>
          <a:xfrm>
            <a:off x="3181350" y="5486400"/>
            <a:ext cx="3009900" cy="1285875"/>
          </a:xfrm>
          <a:custGeom>
            <a:avLst/>
            <a:gdLst/>
            <a:ahLst/>
            <a:cxnLst/>
            <a:rect l="l" t="t" r="r" b="b"/>
            <a:pathLst>
              <a:path w="3009900" h="1285875">
                <a:moveTo>
                  <a:pt x="0" y="0"/>
                </a:moveTo>
                <a:lnTo>
                  <a:pt x="3009900" y="0"/>
                </a:lnTo>
                <a:lnTo>
                  <a:pt x="30099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>
          <a:xfrm>
            <a:off x="3371850" y="6029325"/>
            <a:ext cx="762000" cy="371475"/>
          </a:xfrm>
          <a:custGeom>
            <a:avLst/>
            <a:gdLst/>
            <a:ahLst/>
            <a:cxnLst/>
            <a:rect l="l" t="t" r="r" b="b"/>
            <a:pathLst>
              <a:path w="762000" h="371475">
                <a:moveTo>
                  <a:pt x="0" y="0"/>
                </a:moveTo>
                <a:lnTo>
                  <a:pt x="762000" y="0"/>
                </a:lnTo>
                <a:lnTo>
                  <a:pt x="76200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>
            <a:off x="6372225" y="5486400"/>
            <a:ext cx="3009900" cy="1285875"/>
          </a:xfrm>
          <a:custGeom>
            <a:avLst/>
            <a:gdLst/>
            <a:ahLst/>
            <a:cxnLst/>
            <a:rect l="l" t="t" r="r" b="b"/>
            <a:pathLst>
              <a:path w="3009900" h="1285875">
                <a:moveTo>
                  <a:pt x="0" y="0"/>
                </a:moveTo>
                <a:lnTo>
                  <a:pt x="3009900" y="0"/>
                </a:lnTo>
                <a:lnTo>
                  <a:pt x="30099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3"/>
          <p:cNvSpPr/>
          <p:nvPr/>
        </p:nvSpPr>
        <p:spPr>
          <a:xfrm>
            <a:off x="6372225" y="5848350"/>
            <a:ext cx="762000" cy="742950"/>
          </a:xfrm>
          <a:custGeom>
            <a:avLst/>
            <a:gdLst/>
            <a:ahLst/>
            <a:cxnLst/>
            <a:rect l="l" t="t" r="r" b="b"/>
            <a:pathLst>
              <a:path w="762000" h="742950">
                <a:moveTo>
                  <a:pt x="0" y="0"/>
                </a:moveTo>
                <a:lnTo>
                  <a:pt x="762000" y="0"/>
                </a:lnTo>
                <a:lnTo>
                  <a:pt x="76200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14"/>
          <p:cNvSpPr/>
          <p:nvPr/>
        </p:nvSpPr>
        <p:spPr>
          <a:xfrm>
            <a:off x="6372225" y="3838575"/>
            <a:ext cx="1133475" cy="923925"/>
          </a:xfrm>
          <a:custGeom>
            <a:avLst/>
            <a:gdLst/>
            <a:ahLst/>
            <a:cxnLst/>
            <a:rect l="l" t="t" r="r" b="b"/>
            <a:pathLst>
              <a:path w="1133475" h="923925">
                <a:moveTo>
                  <a:pt x="0" y="0"/>
                </a:moveTo>
                <a:lnTo>
                  <a:pt x="1133475" y="0"/>
                </a:lnTo>
                <a:lnTo>
                  <a:pt x="1133475" y="923925"/>
                </a:lnTo>
                <a:lnTo>
                  <a:pt x="0" y="9239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5"/>
          <p:cNvSpPr/>
          <p:nvPr/>
        </p:nvSpPr>
        <p:spPr>
          <a:xfrm>
            <a:off x="7315200" y="4019550"/>
            <a:ext cx="752475" cy="552450"/>
          </a:xfrm>
          <a:custGeom>
            <a:avLst/>
            <a:gdLst/>
            <a:ahLst/>
            <a:cxnLst/>
            <a:rect l="l" t="t" r="r" b="b"/>
            <a:pathLst>
              <a:path w="752475" h="552450">
                <a:moveTo>
                  <a:pt x="0" y="0"/>
                </a:moveTo>
                <a:lnTo>
                  <a:pt x="752475" y="0"/>
                </a:lnTo>
                <a:lnTo>
                  <a:pt x="752475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6"/>
          <p:cNvSpPr/>
          <p:nvPr/>
        </p:nvSpPr>
        <p:spPr>
          <a:xfrm>
            <a:off x="8248650" y="3838575"/>
            <a:ext cx="1133475" cy="923925"/>
          </a:xfrm>
          <a:custGeom>
            <a:avLst/>
            <a:gdLst/>
            <a:ahLst/>
            <a:cxnLst/>
            <a:rect l="l" t="t" r="r" b="b"/>
            <a:pathLst>
              <a:path w="1133475" h="923925">
                <a:moveTo>
                  <a:pt x="0" y="0"/>
                </a:moveTo>
                <a:lnTo>
                  <a:pt x="1133475" y="0"/>
                </a:lnTo>
                <a:lnTo>
                  <a:pt x="1133475" y="923925"/>
                </a:lnTo>
                <a:lnTo>
                  <a:pt x="0" y="9239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7"/>
          <p:cNvSpPr/>
          <p:nvPr/>
        </p:nvSpPr>
        <p:spPr>
          <a:xfrm>
            <a:off x="0" y="6943725"/>
            <a:ext cx="9753600" cy="561975"/>
          </a:xfrm>
          <a:custGeom>
            <a:avLst/>
            <a:gdLst/>
            <a:ahLst/>
            <a:cxnLst/>
            <a:rect l="l" t="t" r="r" b="b"/>
            <a:pathLst>
              <a:path w="9753600" h="561975">
                <a:moveTo>
                  <a:pt x="0" y="0"/>
                </a:moveTo>
                <a:lnTo>
                  <a:pt x="9753600" y="0"/>
                </a:lnTo>
                <a:lnTo>
                  <a:pt x="9753600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8"/>
          <p:cNvSpPr/>
          <p:nvPr/>
        </p:nvSpPr>
        <p:spPr>
          <a:xfrm>
            <a:off x="180975" y="8591550"/>
            <a:ext cx="1514475" cy="2019300"/>
          </a:xfrm>
          <a:custGeom>
            <a:avLst/>
            <a:gdLst/>
            <a:ahLst/>
            <a:cxnLst/>
            <a:rect l="l" t="t" r="r" b="b"/>
            <a:pathLst>
              <a:path w="1514475" h="2019300">
                <a:moveTo>
                  <a:pt x="0" y="0"/>
                </a:moveTo>
                <a:lnTo>
                  <a:pt x="1514475" y="0"/>
                </a:lnTo>
                <a:lnTo>
                  <a:pt x="1514475" y="2019300"/>
                </a:lnTo>
                <a:lnTo>
                  <a:pt x="0" y="20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9" name="Freeform 19"/>
          <p:cNvSpPr/>
          <p:nvPr/>
        </p:nvSpPr>
        <p:spPr>
          <a:xfrm>
            <a:off x="742950" y="8591550"/>
            <a:ext cx="571500" cy="742950"/>
          </a:xfrm>
          <a:custGeom>
            <a:avLst/>
            <a:gdLst/>
            <a:ahLst/>
            <a:cxnLst/>
            <a:rect l="l" t="t" r="r" b="b"/>
            <a:pathLst>
              <a:path w="571500" h="742950">
                <a:moveTo>
                  <a:pt x="0" y="0"/>
                </a:moveTo>
                <a:lnTo>
                  <a:pt x="571500" y="0"/>
                </a:lnTo>
                <a:lnTo>
                  <a:pt x="57150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0" name="Freeform 20"/>
          <p:cNvSpPr/>
          <p:nvPr/>
        </p:nvSpPr>
        <p:spPr>
          <a:xfrm>
            <a:off x="1495425" y="10601325"/>
            <a:ext cx="571500" cy="190500"/>
          </a:xfrm>
          <a:custGeom>
            <a:avLst/>
            <a:gdLst/>
            <a:ahLst/>
            <a:cxnLst/>
            <a:rect l="l" t="t" r="r" b="b"/>
            <a:pathLst>
              <a:path w="571500" h="190500">
                <a:moveTo>
                  <a:pt x="0" y="0"/>
                </a:moveTo>
                <a:lnTo>
                  <a:pt x="571500" y="0"/>
                </a:lnTo>
                <a:lnTo>
                  <a:pt x="571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1" name="Freeform 21"/>
          <p:cNvSpPr/>
          <p:nvPr/>
        </p:nvSpPr>
        <p:spPr>
          <a:xfrm>
            <a:off x="3371850" y="8039100"/>
            <a:ext cx="2819400" cy="2933700"/>
          </a:xfrm>
          <a:custGeom>
            <a:avLst/>
            <a:gdLst/>
            <a:ahLst/>
            <a:cxnLst/>
            <a:rect l="l" t="t" r="r" b="b"/>
            <a:pathLst>
              <a:path w="2819400" h="2933700">
                <a:moveTo>
                  <a:pt x="0" y="0"/>
                </a:moveTo>
                <a:lnTo>
                  <a:pt x="2819400" y="0"/>
                </a:lnTo>
                <a:lnTo>
                  <a:pt x="2819400" y="2933700"/>
                </a:lnTo>
                <a:lnTo>
                  <a:pt x="0" y="29337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2" name="Freeform 22"/>
          <p:cNvSpPr/>
          <p:nvPr/>
        </p:nvSpPr>
        <p:spPr>
          <a:xfrm>
            <a:off x="3181350" y="8039100"/>
            <a:ext cx="571500" cy="561975"/>
          </a:xfrm>
          <a:custGeom>
            <a:avLst/>
            <a:gdLst/>
            <a:ahLst/>
            <a:cxnLst/>
            <a:rect l="l" t="t" r="r" b="b"/>
            <a:pathLst>
              <a:path w="571500" h="561975">
                <a:moveTo>
                  <a:pt x="0" y="0"/>
                </a:moveTo>
                <a:lnTo>
                  <a:pt x="571500" y="0"/>
                </a:lnTo>
                <a:lnTo>
                  <a:pt x="571500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3" name="Freeform 23"/>
          <p:cNvSpPr/>
          <p:nvPr/>
        </p:nvSpPr>
        <p:spPr>
          <a:xfrm>
            <a:off x="6000750" y="8039100"/>
            <a:ext cx="571500" cy="561975"/>
          </a:xfrm>
          <a:custGeom>
            <a:avLst/>
            <a:gdLst/>
            <a:ahLst/>
            <a:cxnLst/>
            <a:rect l="l" t="t" r="r" b="b"/>
            <a:pathLst>
              <a:path w="571500" h="561975">
                <a:moveTo>
                  <a:pt x="0" y="0"/>
                </a:moveTo>
                <a:lnTo>
                  <a:pt x="571500" y="0"/>
                </a:lnTo>
                <a:lnTo>
                  <a:pt x="571500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4" name="Freeform 24"/>
          <p:cNvSpPr/>
          <p:nvPr/>
        </p:nvSpPr>
        <p:spPr>
          <a:xfrm>
            <a:off x="2619375" y="9324975"/>
            <a:ext cx="762000" cy="552450"/>
          </a:xfrm>
          <a:custGeom>
            <a:avLst/>
            <a:gdLst/>
            <a:ahLst/>
            <a:cxnLst/>
            <a:rect l="l" t="t" r="r" b="b"/>
            <a:pathLst>
              <a:path w="762000" h="552450">
                <a:moveTo>
                  <a:pt x="0" y="0"/>
                </a:moveTo>
                <a:lnTo>
                  <a:pt x="762000" y="0"/>
                </a:lnTo>
                <a:lnTo>
                  <a:pt x="762000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5" name="Freeform 25"/>
          <p:cNvSpPr/>
          <p:nvPr/>
        </p:nvSpPr>
        <p:spPr>
          <a:xfrm>
            <a:off x="3000375" y="10420350"/>
            <a:ext cx="752475" cy="552450"/>
          </a:xfrm>
          <a:custGeom>
            <a:avLst/>
            <a:gdLst/>
            <a:ahLst/>
            <a:cxnLst/>
            <a:rect l="l" t="t" r="r" b="b"/>
            <a:pathLst>
              <a:path w="752475" h="552450">
                <a:moveTo>
                  <a:pt x="0" y="0"/>
                </a:moveTo>
                <a:lnTo>
                  <a:pt x="752475" y="0"/>
                </a:lnTo>
                <a:lnTo>
                  <a:pt x="752475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6" name="Freeform 26"/>
          <p:cNvSpPr/>
          <p:nvPr/>
        </p:nvSpPr>
        <p:spPr>
          <a:xfrm>
            <a:off x="6372225" y="9144000"/>
            <a:ext cx="381000" cy="733425"/>
          </a:xfrm>
          <a:custGeom>
            <a:avLst/>
            <a:gdLst/>
            <a:ahLst/>
            <a:cxnLst/>
            <a:rect l="l" t="t" r="r" b="b"/>
            <a:pathLst>
              <a:path w="381000" h="733425">
                <a:moveTo>
                  <a:pt x="0" y="0"/>
                </a:moveTo>
                <a:lnTo>
                  <a:pt x="381000" y="0"/>
                </a:lnTo>
                <a:lnTo>
                  <a:pt x="38100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7" name="Freeform 27"/>
          <p:cNvSpPr/>
          <p:nvPr/>
        </p:nvSpPr>
        <p:spPr>
          <a:xfrm>
            <a:off x="6000750" y="10420350"/>
            <a:ext cx="381000" cy="552450"/>
          </a:xfrm>
          <a:custGeom>
            <a:avLst/>
            <a:gdLst/>
            <a:ahLst/>
            <a:cxnLst/>
            <a:rect l="l" t="t" r="r" b="b"/>
            <a:pathLst>
              <a:path w="381000" h="552450">
                <a:moveTo>
                  <a:pt x="0" y="0"/>
                </a:moveTo>
                <a:lnTo>
                  <a:pt x="381000" y="0"/>
                </a:lnTo>
                <a:lnTo>
                  <a:pt x="381000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8" name="Freeform 28"/>
          <p:cNvSpPr/>
          <p:nvPr/>
        </p:nvSpPr>
        <p:spPr>
          <a:xfrm>
            <a:off x="7877175" y="8591550"/>
            <a:ext cx="1695450" cy="2019300"/>
          </a:xfrm>
          <a:custGeom>
            <a:avLst/>
            <a:gdLst/>
            <a:ahLst/>
            <a:cxnLst/>
            <a:rect l="l" t="t" r="r" b="b"/>
            <a:pathLst>
              <a:path w="1695450" h="2019300">
                <a:moveTo>
                  <a:pt x="0" y="0"/>
                </a:moveTo>
                <a:lnTo>
                  <a:pt x="1695450" y="0"/>
                </a:lnTo>
                <a:lnTo>
                  <a:pt x="1695450" y="2019300"/>
                </a:lnTo>
                <a:lnTo>
                  <a:pt x="0" y="201930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9" name="Freeform 29"/>
          <p:cNvSpPr/>
          <p:nvPr/>
        </p:nvSpPr>
        <p:spPr>
          <a:xfrm>
            <a:off x="8439150" y="8772525"/>
            <a:ext cx="381000" cy="561975"/>
          </a:xfrm>
          <a:custGeom>
            <a:avLst/>
            <a:gdLst/>
            <a:ahLst/>
            <a:cxnLst/>
            <a:rect l="l" t="t" r="r" b="b"/>
            <a:pathLst>
              <a:path w="381000" h="561975">
                <a:moveTo>
                  <a:pt x="0" y="0"/>
                </a:moveTo>
                <a:lnTo>
                  <a:pt x="381000" y="0"/>
                </a:lnTo>
                <a:lnTo>
                  <a:pt x="381000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0" name="Freeform 30"/>
          <p:cNvSpPr/>
          <p:nvPr/>
        </p:nvSpPr>
        <p:spPr>
          <a:xfrm>
            <a:off x="7686675" y="10601325"/>
            <a:ext cx="571500" cy="190500"/>
          </a:xfrm>
          <a:custGeom>
            <a:avLst/>
            <a:gdLst/>
            <a:ahLst/>
            <a:cxnLst/>
            <a:rect l="l" t="t" r="r" b="b"/>
            <a:pathLst>
              <a:path w="571500" h="190500">
                <a:moveTo>
                  <a:pt x="0" y="0"/>
                </a:moveTo>
                <a:lnTo>
                  <a:pt x="571500" y="0"/>
                </a:lnTo>
                <a:lnTo>
                  <a:pt x="571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1" name="Freeform 31"/>
          <p:cNvSpPr/>
          <p:nvPr/>
        </p:nvSpPr>
        <p:spPr>
          <a:xfrm>
            <a:off x="180975" y="11887200"/>
            <a:ext cx="9391650" cy="2019300"/>
          </a:xfrm>
          <a:custGeom>
            <a:avLst/>
            <a:gdLst/>
            <a:ahLst/>
            <a:cxnLst/>
            <a:rect l="l" t="t" r="r" b="b"/>
            <a:pathLst>
              <a:path w="9391650" h="2019300">
                <a:moveTo>
                  <a:pt x="0" y="0"/>
                </a:moveTo>
                <a:lnTo>
                  <a:pt x="9391650" y="0"/>
                </a:lnTo>
                <a:lnTo>
                  <a:pt x="9391650" y="2019300"/>
                </a:lnTo>
                <a:lnTo>
                  <a:pt x="0" y="201930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2" name="Freeform 32"/>
          <p:cNvSpPr/>
          <p:nvPr/>
        </p:nvSpPr>
        <p:spPr>
          <a:xfrm>
            <a:off x="742950" y="12249150"/>
            <a:ext cx="952500" cy="742950"/>
          </a:xfrm>
          <a:custGeom>
            <a:avLst/>
            <a:gdLst/>
            <a:ahLst/>
            <a:cxnLst/>
            <a:rect l="l" t="t" r="r" b="b"/>
            <a:pathLst>
              <a:path w="952500" h="742950">
                <a:moveTo>
                  <a:pt x="0" y="0"/>
                </a:moveTo>
                <a:lnTo>
                  <a:pt x="952500" y="0"/>
                </a:lnTo>
                <a:lnTo>
                  <a:pt x="95250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3" name="Freeform 33"/>
          <p:cNvSpPr/>
          <p:nvPr/>
        </p:nvSpPr>
        <p:spPr>
          <a:xfrm>
            <a:off x="2438400" y="12249150"/>
            <a:ext cx="752475" cy="742950"/>
          </a:xfrm>
          <a:custGeom>
            <a:avLst/>
            <a:gdLst/>
            <a:ahLst/>
            <a:cxnLst/>
            <a:rect l="l" t="t" r="r" b="b"/>
            <a:pathLst>
              <a:path w="752475" h="742950">
                <a:moveTo>
                  <a:pt x="0" y="0"/>
                </a:moveTo>
                <a:lnTo>
                  <a:pt x="752475" y="0"/>
                </a:lnTo>
                <a:lnTo>
                  <a:pt x="752475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4" name="Freeform 34"/>
          <p:cNvSpPr/>
          <p:nvPr/>
        </p:nvSpPr>
        <p:spPr>
          <a:xfrm>
            <a:off x="4305300" y="12249150"/>
            <a:ext cx="762000" cy="742950"/>
          </a:xfrm>
          <a:custGeom>
            <a:avLst/>
            <a:gdLst/>
            <a:ahLst/>
            <a:cxnLst/>
            <a:rect l="l" t="t" r="r" b="b"/>
            <a:pathLst>
              <a:path w="762000" h="742950">
                <a:moveTo>
                  <a:pt x="0" y="0"/>
                </a:moveTo>
                <a:lnTo>
                  <a:pt x="762000" y="0"/>
                </a:lnTo>
                <a:lnTo>
                  <a:pt x="76200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5" name="Freeform 35"/>
          <p:cNvSpPr/>
          <p:nvPr/>
        </p:nvSpPr>
        <p:spPr>
          <a:xfrm>
            <a:off x="6181725" y="12249150"/>
            <a:ext cx="571500" cy="742950"/>
          </a:xfrm>
          <a:custGeom>
            <a:avLst/>
            <a:gdLst/>
            <a:ahLst/>
            <a:cxnLst/>
            <a:rect l="l" t="t" r="r" b="b"/>
            <a:pathLst>
              <a:path w="571500" h="742950">
                <a:moveTo>
                  <a:pt x="0" y="0"/>
                </a:moveTo>
                <a:lnTo>
                  <a:pt x="571500" y="0"/>
                </a:lnTo>
                <a:lnTo>
                  <a:pt x="57150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6" name="Freeform 36"/>
          <p:cNvSpPr/>
          <p:nvPr/>
        </p:nvSpPr>
        <p:spPr>
          <a:xfrm>
            <a:off x="8058150" y="12249150"/>
            <a:ext cx="762000" cy="742950"/>
          </a:xfrm>
          <a:custGeom>
            <a:avLst/>
            <a:gdLst/>
            <a:ahLst/>
            <a:cxnLst/>
            <a:rect l="l" t="t" r="r" b="b"/>
            <a:pathLst>
              <a:path w="762000" h="742950">
                <a:moveTo>
                  <a:pt x="0" y="0"/>
                </a:moveTo>
                <a:lnTo>
                  <a:pt x="762000" y="0"/>
                </a:lnTo>
                <a:lnTo>
                  <a:pt x="76200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7" name="Freeform 37"/>
          <p:cNvSpPr/>
          <p:nvPr/>
        </p:nvSpPr>
        <p:spPr>
          <a:xfrm>
            <a:off x="180975" y="13896975"/>
            <a:ext cx="571500" cy="552450"/>
          </a:xfrm>
          <a:custGeom>
            <a:avLst/>
            <a:gdLst/>
            <a:ahLst/>
            <a:cxnLst/>
            <a:rect l="l" t="t" r="r" b="b"/>
            <a:pathLst>
              <a:path w="571500" h="552450">
                <a:moveTo>
                  <a:pt x="0" y="0"/>
                </a:moveTo>
                <a:lnTo>
                  <a:pt x="571500" y="0"/>
                </a:lnTo>
                <a:lnTo>
                  <a:pt x="571500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8" name="Freeform 38"/>
          <p:cNvSpPr/>
          <p:nvPr/>
        </p:nvSpPr>
        <p:spPr>
          <a:xfrm>
            <a:off x="3524250" y="4092172"/>
            <a:ext cx="571500" cy="742950"/>
          </a:xfrm>
          <a:custGeom>
            <a:avLst/>
            <a:gdLst/>
            <a:ahLst/>
            <a:cxnLst/>
            <a:rect l="l" t="t" r="r" b="b"/>
            <a:pathLst>
              <a:path w="571500" h="742950">
                <a:moveTo>
                  <a:pt x="0" y="0"/>
                </a:moveTo>
                <a:lnTo>
                  <a:pt x="571500" y="0"/>
                </a:lnTo>
                <a:lnTo>
                  <a:pt x="57150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9" name="Freeform 39"/>
          <p:cNvSpPr/>
          <p:nvPr/>
        </p:nvSpPr>
        <p:spPr>
          <a:xfrm>
            <a:off x="4964906" y="4240001"/>
            <a:ext cx="233362" cy="471873"/>
          </a:xfrm>
          <a:custGeom>
            <a:avLst/>
            <a:gdLst/>
            <a:ahLst/>
            <a:cxnLst/>
            <a:rect l="l" t="t" r="r" b="b"/>
            <a:pathLst>
              <a:path w="233362" h="471873">
                <a:moveTo>
                  <a:pt x="0" y="0"/>
                </a:moveTo>
                <a:lnTo>
                  <a:pt x="233363" y="0"/>
                </a:lnTo>
                <a:lnTo>
                  <a:pt x="233363" y="471872"/>
                </a:lnTo>
                <a:lnTo>
                  <a:pt x="0" y="471872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0" name="Freeform 40"/>
          <p:cNvSpPr/>
          <p:nvPr/>
        </p:nvSpPr>
        <p:spPr>
          <a:xfrm>
            <a:off x="4200525" y="4072107"/>
            <a:ext cx="714738" cy="600380"/>
          </a:xfrm>
          <a:custGeom>
            <a:avLst/>
            <a:gdLst/>
            <a:ahLst/>
            <a:cxnLst/>
            <a:rect l="l" t="t" r="r" b="b"/>
            <a:pathLst>
              <a:path w="714738" h="600380">
                <a:moveTo>
                  <a:pt x="0" y="0"/>
                </a:moveTo>
                <a:lnTo>
                  <a:pt x="714738" y="0"/>
                </a:lnTo>
                <a:lnTo>
                  <a:pt x="714738" y="600379"/>
                </a:lnTo>
                <a:lnTo>
                  <a:pt x="0" y="6003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1" name="Freeform 41"/>
          <p:cNvSpPr/>
          <p:nvPr/>
        </p:nvSpPr>
        <p:spPr>
          <a:xfrm>
            <a:off x="5319712" y="4135766"/>
            <a:ext cx="431804" cy="522607"/>
          </a:xfrm>
          <a:custGeom>
            <a:avLst/>
            <a:gdLst/>
            <a:ahLst/>
            <a:cxnLst/>
            <a:rect l="l" t="t" r="r" b="b"/>
            <a:pathLst>
              <a:path w="431804" h="522607">
                <a:moveTo>
                  <a:pt x="0" y="0"/>
                </a:moveTo>
                <a:lnTo>
                  <a:pt x="431804" y="0"/>
                </a:lnTo>
                <a:lnTo>
                  <a:pt x="431804" y="522607"/>
                </a:lnTo>
                <a:lnTo>
                  <a:pt x="0" y="522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2" name="TextBox 42"/>
          <p:cNvSpPr txBox="1"/>
          <p:nvPr/>
        </p:nvSpPr>
        <p:spPr>
          <a:xfrm>
            <a:off x="3119570" y="143771"/>
            <a:ext cx="3038475" cy="354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1785" spc="205">
                <a:solidFill>
                  <a:srgbClr val="E7EBF1"/>
                </a:solidFill>
                <a:latin typeface="Arial MT Pro"/>
                <a:ea typeface="Arial MT Pro"/>
                <a:cs typeface="Arial MT Pro"/>
                <a:sym typeface="Arial MT Pro"/>
              </a:rPr>
              <a:t>PHASE 2 HINFÜHRUNG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57312" y="660444"/>
            <a:ext cx="7124700" cy="1496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2"/>
              </a:lnSpc>
            </a:pPr>
            <a:r>
              <a:rPr lang="en-US" sz="3174" spc="269">
                <a:solidFill>
                  <a:srgbClr val="0B2C5B"/>
                </a:solidFill>
                <a:latin typeface="Arial MT Pro"/>
                <a:ea typeface="Arial MT Pro"/>
                <a:cs typeface="Arial MT Pro"/>
                <a:sym typeface="Arial MT Pro"/>
              </a:rPr>
              <a:t>MELATONIN, BLAUES LICHT</a:t>
            </a:r>
          </a:p>
          <a:p>
            <a:pPr algn="ctr">
              <a:lnSpc>
                <a:spcPts val="4012"/>
              </a:lnSpc>
            </a:pPr>
            <a:r>
              <a:rPr lang="en-US" sz="3174" spc="269">
                <a:solidFill>
                  <a:srgbClr val="0B2C5B"/>
                </a:solidFill>
                <a:latin typeface="Arial MT Pro"/>
                <a:ea typeface="Arial MT Pro"/>
                <a:cs typeface="Arial MT Pro"/>
                <a:sym typeface="Arial MT Pro"/>
              </a:rPr>
              <a:t>UND ZIRKADIANER RHYTHMUS</a:t>
            </a:r>
          </a:p>
          <a:p>
            <a:pPr algn="ctr">
              <a:lnSpc>
                <a:spcPts val="1686"/>
              </a:lnSpc>
            </a:pPr>
            <a:r>
              <a:rPr lang="en-US" sz="1334" spc="49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Unser Körper hat eine innere Uhr, die unseren Schlaf-Wach-Rhythmus steuert.</a:t>
            </a:r>
          </a:p>
          <a:p>
            <a:pPr algn="ctr">
              <a:lnSpc>
                <a:spcPts val="1686"/>
              </a:lnSpc>
            </a:pPr>
            <a:r>
              <a:rPr lang="en-US" sz="1334" spc="49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Licht besonders blaues Licht - beeinflusst die Produktion des Schlafhormons Melatonin.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62049" y="2440640"/>
            <a:ext cx="1895475" cy="244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5"/>
              </a:lnSpc>
            </a:pPr>
            <a:r>
              <a:rPr lang="en-US" sz="1239" spc="78">
                <a:solidFill>
                  <a:srgbClr val="E7EBF1"/>
                </a:solidFill>
                <a:latin typeface="Arial MT Pro"/>
                <a:ea typeface="Arial MT Pro"/>
                <a:cs typeface="Arial MT Pro"/>
                <a:sym typeface="Arial MT Pro"/>
              </a:rPr>
              <a:t>WAS IST MELATONIN?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69614" y="2810217"/>
            <a:ext cx="2352675" cy="103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083" spc="28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Melatonin ist ein Hormon, das in der</a:t>
            </a:r>
          </a:p>
          <a:p>
            <a:pPr algn="l">
              <a:lnSpc>
                <a:spcPts val="1600"/>
              </a:lnSpc>
            </a:pPr>
            <a:r>
              <a:rPr lang="en-US" sz="1083" spc="28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Zirbeldrüse (Epiphyse) im Gehirn</a:t>
            </a:r>
          </a:p>
          <a:p>
            <a:pPr algn="l">
              <a:lnSpc>
                <a:spcPts val="1646"/>
              </a:lnSpc>
            </a:pPr>
            <a:r>
              <a:rPr lang="en-US" sz="1115" spc="18">
                <a:solidFill>
                  <a:srgbClr val="2A2F3D"/>
                </a:solidFill>
                <a:latin typeface="Roboto"/>
                <a:ea typeface="Roboto"/>
                <a:cs typeface="Roboto"/>
                <a:sym typeface="Roboto"/>
              </a:rPr>
              <a:t>gebildet wird.</a:t>
            </a:r>
          </a:p>
          <a:p>
            <a:pPr algn="l">
              <a:lnSpc>
                <a:spcPts val="1475"/>
              </a:lnSpc>
            </a:pPr>
            <a:r>
              <a:rPr lang="en-US" sz="998" spc="62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Es signalisiert dem Körper:</a:t>
            </a:r>
          </a:p>
          <a:p>
            <a:pPr algn="l">
              <a:lnSpc>
                <a:spcPts val="1802"/>
              </a:lnSpc>
            </a:pPr>
            <a:r>
              <a:rPr lang="en-US" sz="1220" spc="8">
                <a:solidFill>
                  <a:srgbClr val="684895"/>
                </a:solidFill>
                <a:latin typeface="Arial MT Pro"/>
                <a:ea typeface="Arial MT Pro"/>
                <a:cs typeface="Arial MT Pro"/>
                <a:sym typeface="Arial MT Pro"/>
              </a:rPr>
              <a:t>,Es ist Zeit zu schlafen."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614738" y="2452613"/>
            <a:ext cx="2076450" cy="234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6"/>
              </a:lnSpc>
            </a:pPr>
            <a:r>
              <a:rPr lang="en-US" sz="1276" spc="35">
                <a:solidFill>
                  <a:srgbClr val="E7EBF1"/>
                </a:solidFill>
                <a:latin typeface="Arial MT Pro"/>
                <a:ea typeface="Arial MT Pro"/>
                <a:cs typeface="Arial MT Pro"/>
                <a:sym typeface="Arial MT Pro"/>
              </a:rPr>
              <a:t>WAS IST BLAUES LICHT?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322612" y="2844685"/>
            <a:ext cx="2609850" cy="78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3"/>
              </a:lnSpc>
            </a:pPr>
            <a:r>
              <a:rPr lang="en-US" sz="1098" spc="21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Blaues Licht hat eine kurze Wellenlänge</a:t>
            </a:r>
          </a:p>
          <a:p>
            <a:pPr algn="l">
              <a:lnSpc>
                <a:spcPts val="1503"/>
              </a:lnSpc>
            </a:pPr>
            <a:r>
              <a:rPr lang="en-US" sz="1098" spc="21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und eine hohe Energie.</a:t>
            </a:r>
          </a:p>
          <a:p>
            <a:pPr algn="l">
              <a:lnSpc>
                <a:spcPts val="1503"/>
              </a:lnSpc>
            </a:pPr>
            <a:r>
              <a:rPr lang="en-US" sz="1098" spc="21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Es kommt natürlich im Tageslicht vor -</a:t>
            </a:r>
          </a:p>
          <a:p>
            <a:pPr algn="l">
              <a:lnSpc>
                <a:spcPts val="1503"/>
              </a:lnSpc>
            </a:pPr>
            <a:r>
              <a:rPr lang="en-US" sz="1098" spc="21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besonders am Morgen und Vormittag.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322612" y="3719343"/>
            <a:ext cx="1762125" cy="200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1111" spc="32">
                <a:solidFill>
                  <a:srgbClr val="2D54AA"/>
                </a:solidFill>
                <a:latin typeface="Arial MT Pro"/>
                <a:ea typeface="Arial MT Pro"/>
                <a:cs typeface="Arial MT Pro"/>
                <a:sym typeface="Arial MT Pro"/>
              </a:rPr>
              <a:t>Quellen von blauem Licht: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529388" y="2471077"/>
            <a:ext cx="2762250" cy="209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9"/>
              </a:lnSpc>
            </a:pPr>
            <a:r>
              <a:rPr lang="en-US" sz="1135" spc="66">
                <a:solidFill>
                  <a:srgbClr val="E7EBF1"/>
                </a:solidFill>
                <a:latin typeface="Arial MT Pro"/>
                <a:ea typeface="Arial MT Pro"/>
                <a:cs typeface="Arial MT Pro"/>
                <a:sym typeface="Arial MT Pro"/>
              </a:rPr>
              <a:t>WIE BEEINFLUSST ES MELATONIN?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534186" y="2840220"/>
            <a:ext cx="2686050" cy="78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1"/>
              </a:lnSpc>
            </a:pPr>
            <a:r>
              <a:rPr lang="en-US" sz="1097" spc="25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Blaues Licht am Abend oder in der Nacht</a:t>
            </a:r>
          </a:p>
          <a:p>
            <a:pPr algn="l">
              <a:lnSpc>
                <a:spcPts val="1501"/>
              </a:lnSpc>
            </a:pPr>
            <a:r>
              <a:rPr lang="en-US" sz="1097" spc="25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hemmt die Ausschüttung von Melatonin.</a:t>
            </a:r>
          </a:p>
          <a:p>
            <a:pPr algn="l">
              <a:lnSpc>
                <a:spcPts val="1501"/>
              </a:lnSpc>
            </a:pPr>
            <a:r>
              <a:rPr lang="en-US" sz="1097" spc="25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Das täuscht dem Gehirn vor, dass es</a:t>
            </a:r>
          </a:p>
          <a:p>
            <a:pPr algn="l">
              <a:lnSpc>
                <a:spcPts val="1501"/>
              </a:lnSpc>
            </a:pPr>
            <a:r>
              <a:rPr lang="en-US" sz="1097" spc="25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noch Tag ist.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171700" y="4529206"/>
            <a:ext cx="695325" cy="336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2"/>
              </a:lnSpc>
            </a:pPr>
            <a:r>
              <a:rPr lang="en-US" sz="973" spc="38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Zirbeldrüse</a:t>
            </a:r>
          </a:p>
          <a:p>
            <a:pPr algn="l">
              <a:lnSpc>
                <a:spcPts val="1292"/>
              </a:lnSpc>
            </a:pPr>
            <a:r>
              <a:rPr lang="en-US" sz="973" spc="38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(Epiphyse)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290888" y="4904896"/>
            <a:ext cx="666750" cy="150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5"/>
              </a:lnSpc>
            </a:pPr>
            <a:r>
              <a:rPr lang="en-US" sz="832" spc="67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Sonnenlicht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229100" y="4913828"/>
            <a:ext cx="771525" cy="455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2"/>
              </a:lnSpc>
            </a:pPr>
            <a:r>
              <a:rPr lang="en-US" sz="841" spc="52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Bildschirme</a:t>
            </a:r>
          </a:p>
          <a:p>
            <a:pPr algn="ctr">
              <a:lnSpc>
                <a:spcPts val="1232"/>
              </a:lnSpc>
            </a:pPr>
            <a:r>
              <a:rPr lang="en-US" sz="884" spc="-8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(Handy, Tablet,</a:t>
            </a:r>
          </a:p>
          <a:p>
            <a:pPr algn="ctr">
              <a:lnSpc>
                <a:spcPts val="1232"/>
              </a:lnSpc>
            </a:pPr>
            <a:r>
              <a:rPr lang="en-US" sz="884" spc="-8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PC, TV)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319712" y="4915548"/>
            <a:ext cx="695325" cy="160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0"/>
              </a:lnSpc>
            </a:pPr>
            <a:r>
              <a:rPr lang="en-US" sz="814" spc="49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LED-Lampen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81750" y="4882510"/>
            <a:ext cx="895350" cy="306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8"/>
              </a:lnSpc>
            </a:pPr>
            <a:r>
              <a:rPr lang="en-US" sz="885" spc="17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Blaues Licht</a:t>
            </a:r>
          </a:p>
          <a:p>
            <a:pPr algn="ctr">
              <a:lnSpc>
                <a:spcPts val="1237"/>
              </a:lnSpc>
            </a:pPr>
            <a:r>
              <a:rPr lang="en-US" sz="913" spc="5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gelangt ins Auge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315186" y="4875150"/>
            <a:ext cx="2219325" cy="32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2"/>
              </a:lnSpc>
            </a:pPr>
            <a:r>
              <a:rPr lang="en-US" sz="925" spc="46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Signal ans Gehirn: Weniger Melatonin</a:t>
            </a:r>
          </a:p>
          <a:p>
            <a:pPr algn="ctr">
              <a:lnSpc>
                <a:spcPts val="1212"/>
              </a:lnSpc>
            </a:pPr>
            <a:r>
              <a:rPr lang="en-US" sz="925" spc="46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„Es ist noch Tag" wird produziert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69713" y="5716373"/>
            <a:ext cx="1543050" cy="92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008" spc="31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Im Dunkeln wird mehr</a:t>
            </a:r>
          </a:p>
          <a:p>
            <a:pPr algn="l">
              <a:lnSpc>
                <a:spcPts val="1439"/>
              </a:lnSpc>
            </a:pPr>
            <a:r>
              <a:rPr lang="en-US" sz="1008" spc="31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Melatonin ausgeschüttet.</a:t>
            </a:r>
          </a:p>
          <a:p>
            <a:pPr algn="l">
              <a:lnSpc>
                <a:spcPts val="1439"/>
              </a:lnSpc>
            </a:pPr>
            <a:r>
              <a:rPr lang="en-US" sz="1008" spc="31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Es macht uns müde und</a:t>
            </a:r>
          </a:p>
          <a:p>
            <a:pPr algn="l">
              <a:lnSpc>
                <a:spcPts val="1439"/>
              </a:lnSpc>
            </a:pPr>
            <a:r>
              <a:rPr lang="en-US" sz="1008" spc="31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bereitet den Körper auf</a:t>
            </a:r>
          </a:p>
          <a:p>
            <a:pPr algn="l">
              <a:lnSpc>
                <a:spcPts val="1439"/>
              </a:lnSpc>
            </a:pPr>
            <a:r>
              <a:rPr lang="en-US" sz="1008" spc="31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den Schlaf vor.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124634" y="5806751"/>
            <a:ext cx="1905000" cy="737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7"/>
              </a:lnSpc>
            </a:pPr>
            <a:r>
              <a:rPr lang="en-US" sz="997" spc="9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Blaues Licht ist tagsüber wichtig:</a:t>
            </a:r>
          </a:p>
          <a:p>
            <a:pPr algn="l">
              <a:lnSpc>
                <a:spcPts val="1467"/>
              </a:lnSpc>
            </a:pPr>
            <a:r>
              <a:rPr lang="en-US" sz="997" spc="9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Es fördert Aufmerksamkeit,</a:t>
            </a:r>
          </a:p>
          <a:p>
            <a:pPr algn="l">
              <a:lnSpc>
                <a:spcPts val="1467"/>
              </a:lnSpc>
            </a:pPr>
            <a:r>
              <a:rPr lang="en-US" sz="997" spc="9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Konzentration und ein</a:t>
            </a:r>
          </a:p>
          <a:p>
            <a:pPr algn="l">
              <a:lnSpc>
                <a:spcPts val="1467"/>
              </a:lnSpc>
            </a:pPr>
            <a:r>
              <a:rPr lang="en-US" sz="997" spc="9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waches Lebensgefühl.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210431" y="5754341"/>
            <a:ext cx="1819275" cy="71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9"/>
              </a:lnSpc>
            </a:pPr>
            <a:r>
              <a:rPr lang="en-US" sz="1030" spc="18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Die Folge: Wir werden später</a:t>
            </a:r>
          </a:p>
          <a:p>
            <a:pPr algn="l">
              <a:lnSpc>
                <a:spcPts val="1419"/>
              </a:lnSpc>
            </a:pPr>
            <a:r>
              <a:rPr lang="en-US" sz="1030" spc="18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müde, schlafen schlechter ein</a:t>
            </a:r>
          </a:p>
          <a:p>
            <a:pPr algn="l">
              <a:lnSpc>
                <a:spcPts val="1419"/>
              </a:lnSpc>
            </a:pPr>
            <a:r>
              <a:rPr lang="en-US" sz="1030" spc="18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und die Schlafqualität kann</a:t>
            </a:r>
          </a:p>
          <a:p>
            <a:pPr algn="l">
              <a:lnSpc>
                <a:spcPts val="1419"/>
              </a:lnSpc>
            </a:pPr>
            <a:r>
              <a:rPr lang="en-US" sz="1030" spc="18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sich verschlechtern.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528762" y="7116787"/>
            <a:ext cx="6619875" cy="252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4"/>
              </a:lnSpc>
            </a:pPr>
            <a:r>
              <a:rPr lang="en-US" sz="1324" spc="92">
                <a:solidFill>
                  <a:srgbClr val="E7EBF1"/>
                </a:solidFill>
                <a:latin typeface="Arial MT Pro"/>
                <a:ea typeface="Arial MT Pro"/>
                <a:cs typeface="Arial MT Pro"/>
                <a:sym typeface="Arial MT Pro"/>
              </a:rPr>
              <a:t>DER ZIRKADIANE RHYTHMUS - UNSERE INNERE UHR (CA. 24 STUNDEN)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814638" y="7829603"/>
            <a:ext cx="390525" cy="20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8"/>
              </a:lnSpc>
            </a:pPr>
            <a:r>
              <a:rPr lang="en-US" sz="1049" spc="55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09:00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171700" y="8090085"/>
            <a:ext cx="1095375" cy="142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lang="en-US" sz="772" spc="10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Hohe Leistungsfähigkeit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41690" y="9214596"/>
            <a:ext cx="1276350" cy="1088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6"/>
              </a:lnSpc>
            </a:pPr>
            <a:r>
              <a:rPr lang="en-US" sz="822" spc="15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LICHT AM TAG</a:t>
            </a:r>
          </a:p>
          <a:p>
            <a:pPr algn="ctr">
              <a:lnSpc>
                <a:spcPts val="1496"/>
              </a:lnSpc>
            </a:pPr>
            <a:r>
              <a:rPr lang="en-US" sz="822" spc="15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Helles, natürliches Licht</a:t>
            </a:r>
          </a:p>
          <a:p>
            <a:pPr algn="ctr">
              <a:lnSpc>
                <a:spcPts val="1496"/>
              </a:lnSpc>
            </a:pPr>
            <a:r>
              <a:rPr lang="en-US" sz="822" spc="15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am Morgen synchronisiert</a:t>
            </a:r>
          </a:p>
          <a:p>
            <a:pPr algn="ctr">
              <a:lnSpc>
                <a:spcPts val="1496"/>
              </a:lnSpc>
            </a:pPr>
            <a:r>
              <a:rPr lang="en-US" sz="822" spc="15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unsere innere Uhr und</a:t>
            </a:r>
          </a:p>
          <a:p>
            <a:pPr algn="ctr">
              <a:lnSpc>
                <a:spcPts val="1496"/>
              </a:lnSpc>
            </a:pPr>
            <a:r>
              <a:rPr lang="en-US" sz="822" spc="15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fördert Wachheit und</a:t>
            </a:r>
          </a:p>
          <a:p>
            <a:pPr algn="ctr">
              <a:lnSpc>
                <a:spcPts val="1496"/>
              </a:lnSpc>
            </a:pPr>
            <a:r>
              <a:rPr lang="en-US" sz="822" spc="15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Leistungsfähigkeit.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795566" y="9036760"/>
            <a:ext cx="981075" cy="819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34"/>
              </a:lnSpc>
            </a:pPr>
            <a:r>
              <a:rPr lang="en-US" sz="863" spc="0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06:00</a:t>
            </a:r>
          </a:p>
          <a:p>
            <a:pPr algn="r">
              <a:lnSpc>
                <a:spcPts val="1334"/>
              </a:lnSpc>
            </a:pPr>
            <a:r>
              <a:rPr lang="en-US" sz="863" spc="0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Morgens</a:t>
            </a:r>
          </a:p>
          <a:p>
            <a:pPr algn="r">
              <a:lnSpc>
                <a:spcPts val="1334"/>
              </a:lnSpc>
            </a:pPr>
            <a:r>
              <a:rPr lang="en-US" sz="863" spc="0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Starker Anstieg des</a:t>
            </a:r>
          </a:p>
          <a:p>
            <a:pPr algn="r">
              <a:lnSpc>
                <a:spcPts val="1334"/>
              </a:lnSpc>
            </a:pPr>
            <a:r>
              <a:rPr lang="en-US" sz="863" spc="0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Cortisolspiegels -</a:t>
            </a:r>
          </a:p>
          <a:p>
            <a:pPr algn="r">
              <a:lnSpc>
                <a:spcPts val="1334"/>
              </a:lnSpc>
            </a:pPr>
            <a:r>
              <a:rPr lang="en-US" sz="863" spc="0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wir werden wach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23916" y="13038482"/>
            <a:ext cx="1219200" cy="324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65"/>
              </a:lnSpc>
            </a:pPr>
            <a:r>
              <a:rPr lang="en-US" sz="994" spc="7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Regelmäßige Schlaf-</a:t>
            </a:r>
          </a:p>
          <a:p>
            <a:pPr algn="just">
              <a:lnSpc>
                <a:spcPts val="1265"/>
              </a:lnSpc>
            </a:pPr>
            <a:r>
              <a:rPr lang="en-US" sz="994" spc="7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und Aufstehzeiten -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76262" y="13397838"/>
            <a:ext cx="1314450" cy="185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4"/>
              </a:lnSpc>
            </a:pPr>
            <a:r>
              <a:rPr lang="en-US" sz="960" spc="29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auch am Wochenende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2681288" y="10356587"/>
            <a:ext cx="381000" cy="220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0"/>
              </a:lnSpc>
            </a:pPr>
            <a:r>
              <a:rPr lang="en-US" sz="1079" spc="18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04:00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2376621" y="10625328"/>
            <a:ext cx="695325" cy="160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0"/>
              </a:lnSpc>
            </a:pPr>
            <a:r>
              <a:rPr lang="en-US" sz="822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Tiefster Schlaf</a:t>
            </a:r>
          </a:p>
        </p:txBody>
      </p:sp>
      <p:sp>
        <p:nvSpPr>
          <p:cNvPr id="69" name="TextBox 69"/>
          <p:cNvSpPr txBox="1"/>
          <p:nvPr/>
        </p:nvSpPr>
        <p:spPr>
          <a:xfrm rot="-607480">
            <a:off x="3241065" y="10375219"/>
            <a:ext cx="295275" cy="218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9"/>
              </a:lnSpc>
            </a:pPr>
            <a:r>
              <a:rPr lang="en-US" sz="1163">
                <a:solidFill>
                  <a:srgbClr val="2F4C85"/>
                </a:solidFill>
                <a:latin typeface="Arial MT Pro"/>
                <a:ea typeface="Arial MT Pro"/>
                <a:cs typeface="Arial MT Pro"/>
                <a:sym typeface="Arial MT Pro"/>
              </a:rPr>
              <a:t>ZZZ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643438" y="7549611"/>
            <a:ext cx="390525" cy="330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66"/>
              </a:lnSpc>
            </a:pPr>
            <a:r>
              <a:rPr lang="en-US" sz="1033" spc="16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12:00</a:t>
            </a:r>
          </a:p>
          <a:p>
            <a:pPr algn="just">
              <a:lnSpc>
                <a:spcPts val="1266"/>
              </a:lnSpc>
            </a:pPr>
            <a:r>
              <a:rPr lang="en-US" sz="1033" spc="16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Mittag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262512" y="7920563"/>
            <a:ext cx="1171575" cy="16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3"/>
              </a:lnSpc>
            </a:pPr>
            <a:r>
              <a:rPr lang="en-US" sz="816" spc="-3">
                <a:solidFill>
                  <a:srgbClr val="444E66"/>
                </a:solidFill>
                <a:latin typeface="Arial MT Pro"/>
                <a:ea typeface="Arial MT Pro"/>
                <a:cs typeface="Arial MT Pro"/>
                <a:sym typeface="Arial MT Pro"/>
              </a:rPr>
              <a:t>Höchste Aufmerksamkeit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567488" y="7995335"/>
            <a:ext cx="371475" cy="184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4"/>
              </a:lnSpc>
            </a:pPr>
            <a:r>
              <a:rPr lang="en-US" sz="989" spc="55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15:00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581775" y="8238651"/>
            <a:ext cx="971550" cy="150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5"/>
              </a:lnSpc>
            </a:pPr>
            <a:r>
              <a:rPr lang="en-US" sz="832" spc="7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Beste Reaktionszeit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543689" y="11035528"/>
            <a:ext cx="695325" cy="337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1"/>
              </a:lnSpc>
            </a:pPr>
            <a:r>
              <a:rPr lang="en-US" sz="1037" spc="15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00:00</a:t>
            </a:r>
          </a:p>
          <a:p>
            <a:pPr algn="ctr">
              <a:lnSpc>
                <a:spcPts val="1211"/>
              </a:lnSpc>
            </a:pPr>
            <a:r>
              <a:rPr lang="en-US" sz="1037" spc="15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Mitternacht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4095750" y="11424065"/>
            <a:ext cx="1581150" cy="296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2"/>
              </a:lnSpc>
            </a:pPr>
            <a:r>
              <a:rPr lang="en-US" sz="843" spc="5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Melatonin auf höchstem Niveau-</a:t>
            </a:r>
          </a:p>
          <a:p>
            <a:pPr algn="ctr">
              <a:lnSpc>
                <a:spcPts val="1152"/>
              </a:lnSpc>
            </a:pPr>
            <a:r>
              <a:rPr lang="en-US" sz="843" spc="5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Körper regeneriert sich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933881" y="12043462"/>
            <a:ext cx="1800225" cy="226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9"/>
              </a:lnSpc>
            </a:pPr>
            <a:r>
              <a:rPr lang="en-US" sz="1214" spc="91">
                <a:solidFill>
                  <a:srgbClr val="19336B"/>
                </a:solidFill>
                <a:latin typeface="Arial MT Pro"/>
                <a:ea typeface="Arial MT Pro"/>
                <a:cs typeface="Arial MT Pro"/>
                <a:sym typeface="Arial MT Pro"/>
              </a:rPr>
              <a:t>WAS KANN ICH TUN?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2318514" y="13027811"/>
            <a:ext cx="1171575" cy="504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24"/>
              </a:lnSpc>
            </a:pPr>
            <a:r>
              <a:rPr lang="en-US" sz="974" spc="7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Morgens Tageslicht</a:t>
            </a:r>
          </a:p>
          <a:p>
            <a:pPr algn="just">
              <a:lnSpc>
                <a:spcPts val="1324"/>
              </a:lnSpc>
            </a:pPr>
            <a:r>
              <a:rPr lang="en-US" sz="974" spc="7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tanken - am besten</a:t>
            </a:r>
          </a:p>
          <a:p>
            <a:pPr algn="just">
              <a:lnSpc>
                <a:spcPts val="1324"/>
              </a:lnSpc>
            </a:pPr>
            <a:r>
              <a:rPr lang="en-US" sz="974" spc="7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nach dem Aufstehen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962400" y="13013217"/>
            <a:ext cx="1457325" cy="701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8"/>
              </a:lnSpc>
            </a:pPr>
            <a:r>
              <a:rPr lang="en-US" sz="942" spc="38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Bildschirmzeit am Abend</a:t>
            </a:r>
          </a:p>
          <a:p>
            <a:pPr algn="ctr">
              <a:lnSpc>
                <a:spcPts val="1378"/>
              </a:lnSpc>
            </a:pPr>
            <a:r>
              <a:rPr lang="en-US" sz="942" spc="38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reduzieren besonders</a:t>
            </a:r>
          </a:p>
          <a:p>
            <a:pPr algn="ctr">
              <a:lnSpc>
                <a:spcPts val="1378"/>
              </a:lnSpc>
            </a:pPr>
            <a:r>
              <a:rPr lang="en-US" sz="942" spc="38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1-2 Stunden vor dem</a:t>
            </a:r>
          </a:p>
          <a:p>
            <a:pPr algn="ctr">
              <a:lnSpc>
                <a:spcPts val="1378"/>
              </a:lnSpc>
            </a:pPr>
            <a:r>
              <a:rPr lang="en-US" sz="942" spc="38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Schlafengehen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834188" y="9193582"/>
            <a:ext cx="361950" cy="202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6"/>
              </a:lnSpc>
            </a:pPr>
            <a:r>
              <a:rPr lang="en-US" sz="1019" spc="18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19:00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6848360" y="9461495"/>
            <a:ext cx="895350" cy="431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7"/>
              </a:lnSpc>
            </a:pPr>
            <a:r>
              <a:rPr lang="en-US" sz="775" spc="16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Körpertemperatur</a:t>
            </a:r>
          </a:p>
          <a:p>
            <a:pPr algn="l">
              <a:lnSpc>
                <a:spcPts val="1137"/>
              </a:lnSpc>
            </a:pPr>
            <a:r>
              <a:rPr lang="en-US" sz="775" spc="16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sinkt, Entspannung</a:t>
            </a:r>
          </a:p>
          <a:p>
            <a:pPr algn="l">
              <a:lnSpc>
                <a:spcPts val="1117"/>
              </a:lnSpc>
            </a:pPr>
            <a:r>
              <a:rPr lang="en-US" sz="761" spc="19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setzt ein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8015288" y="9348394"/>
            <a:ext cx="1390650" cy="150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3"/>
              </a:lnSpc>
            </a:pPr>
            <a:r>
              <a:rPr lang="en-US" sz="831" spc="49">
                <a:solidFill>
                  <a:srgbClr val="E7EBF1"/>
                </a:solidFill>
                <a:latin typeface="Arial MT Pro"/>
                <a:ea typeface="Arial MT Pro"/>
                <a:cs typeface="Arial MT Pro"/>
                <a:sym typeface="Arial MT Pro"/>
              </a:rPr>
              <a:t>DUNKELHEIT AM ABEND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977206" y="9570577"/>
            <a:ext cx="1457325" cy="866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8"/>
              </a:lnSpc>
            </a:pPr>
            <a:r>
              <a:rPr lang="en-US" sz="857" spc="13">
                <a:solidFill>
                  <a:srgbClr val="D1D8E4"/>
                </a:solidFill>
                <a:latin typeface="Arial MT Pro"/>
                <a:ea typeface="Arial MT Pro"/>
                <a:cs typeface="Arial MT Pro"/>
                <a:sym typeface="Arial MT Pro"/>
              </a:rPr>
              <a:t>Weniges Licht am Abend -</a:t>
            </a:r>
          </a:p>
          <a:p>
            <a:pPr algn="ctr">
              <a:lnSpc>
                <a:spcPts val="1408"/>
              </a:lnSpc>
            </a:pPr>
            <a:r>
              <a:rPr lang="en-US" sz="857" spc="13">
                <a:solidFill>
                  <a:srgbClr val="D1D8E4"/>
                </a:solidFill>
                <a:latin typeface="Arial MT Pro"/>
                <a:ea typeface="Arial MT Pro"/>
                <a:cs typeface="Arial MT Pro"/>
                <a:sym typeface="Arial MT Pro"/>
              </a:rPr>
              <a:t>besonders kein blaues Licht-</a:t>
            </a:r>
          </a:p>
          <a:p>
            <a:pPr algn="ctr">
              <a:lnSpc>
                <a:spcPts val="1408"/>
              </a:lnSpc>
            </a:pPr>
            <a:r>
              <a:rPr lang="en-US" sz="857" spc="13">
                <a:solidFill>
                  <a:srgbClr val="D1D8E4"/>
                </a:solidFill>
                <a:latin typeface="Arial MT Pro"/>
                <a:ea typeface="Arial MT Pro"/>
                <a:cs typeface="Arial MT Pro"/>
                <a:sym typeface="Arial MT Pro"/>
              </a:rPr>
              <a:t>unterstützt die Melatonin-</a:t>
            </a:r>
          </a:p>
          <a:p>
            <a:pPr algn="ctr">
              <a:lnSpc>
                <a:spcPts val="1408"/>
              </a:lnSpc>
            </a:pPr>
            <a:r>
              <a:rPr lang="en-US" sz="857" spc="13">
                <a:solidFill>
                  <a:srgbClr val="D1D8E4"/>
                </a:solidFill>
                <a:latin typeface="Arial MT Pro"/>
                <a:ea typeface="Arial MT Pro"/>
                <a:cs typeface="Arial MT Pro"/>
                <a:sym typeface="Arial MT Pro"/>
              </a:rPr>
              <a:t>produktion und bereitet</a:t>
            </a:r>
          </a:p>
          <a:p>
            <a:pPr algn="ctr">
              <a:lnSpc>
                <a:spcPts val="1408"/>
              </a:lnSpc>
            </a:pPr>
            <a:r>
              <a:rPr lang="en-US" sz="857" spc="13">
                <a:solidFill>
                  <a:srgbClr val="D1D8E4"/>
                </a:solidFill>
                <a:latin typeface="Arial MT Pro"/>
                <a:ea typeface="Arial MT Pro"/>
                <a:cs typeface="Arial MT Pro"/>
                <a:sym typeface="Arial MT Pro"/>
              </a:rPr>
              <a:t>uns auf den Schlaf vor.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481762" y="10382296"/>
            <a:ext cx="342900" cy="16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8"/>
              </a:lnSpc>
            </a:pPr>
            <a:r>
              <a:rPr lang="en-US" sz="899" spc="55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21:00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494983" y="10610482"/>
            <a:ext cx="1200150" cy="466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37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Melatonin wird</a:t>
            </a:r>
          </a:p>
          <a:p>
            <a:pPr algn="l">
              <a:lnSpc>
                <a:spcPts val="1230"/>
              </a:lnSpc>
            </a:pPr>
            <a:r>
              <a:rPr lang="en-US" sz="837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vermehrt ausgeschüttet -</a:t>
            </a:r>
          </a:p>
          <a:p>
            <a:pPr algn="l">
              <a:lnSpc>
                <a:spcPts val="1230"/>
              </a:lnSpc>
            </a:pPr>
            <a:r>
              <a:rPr lang="en-US" sz="837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wir werden müde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5729284" y="13030503"/>
            <a:ext cx="1628775" cy="184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8"/>
              </a:lnSpc>
            </a:pPr>
            <a:r>
              <a:rPr lang="en-US" sz="970" spc="15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Abends warmes, gedimmtes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981700" y="13200392"/>
            <a:ext cx="1123950" cy="339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84"/>
              </a:lnSpc>
            </a:pPr>
            <a:r>
              <a:rPr lang="en-US" sz="919" spc="33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Licht nutzen keine</a:t>
            </a:r>
          </a:p>
          <a:p>
            <a:pPr algn="just">
              <a:lnSpc>
                <a:spcPts val="1284"/>
              </a:lnSpc>
            </a:pPr>
            <a:r>
              <a:rPr lang="en-US" sz="919" spc="33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hellen LED-Lampen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677172" y="13038363"/>
            <a:ext cx="1495425" cy="499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4"/>
              </a:lnSpc>
            </a:pPr>
            <a:r>
              <a:rPr lang="en-US" sz="921" spc="40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Eine ruhige Abendroutine</a:t>
            </a:r>
          </a:p>
          <a:p>
            <a:pPr algn="ctr">
              <a:lnSpc>
                <a:spcPts val="1294"/>
              </a:lnSpc>
            </a:pPr>
            <a:r>
              <a:rPr lang="en-US" sz="921" spc="40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etablieren (z. B. lesen,</a:t>
            </a:r>
          </a:p>
          <a:p>
            <a:pPr algn="ctr">
              <a:lnSpc>
                <a:spcPts val="1294"/>
              </a:lnSpc>
            </a:pPr>
            <a:r>
              <a:rPr lang="en-US" sz="921" spc="40">
                <a:solidFill>
                  <a:srgbClr val="2A2F3D"/>
                </a:solidFill>
                <a:latin typeface="Arial MT Pro"/>
                <a:ea typeface="Arial MT Pro"/>
                <a:cs typeface="Arial MT Pro"/>
                <a:sym typeface="Arial MT Pro"/>
              </a:rPr>
              <a:t>entspannen, Musik hören)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795338" y="14160261"/>
            <a:ext cx="8572500" cy="200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5"/>
              </a:lnSpc>
            </a:pPr>
            <a:r>
              <a:rPr lang="en-US" sz="1103" spc="22">
                <a:solidFill>
                  <a:srgbClr val="53689A"/>
                </a:solidFill>
                <a:latin typeface="Arial MT Pro"/>
                <a:ea typeface="Arial MT Pro"/>
                <a:cs typeface="Arial MT Pro"/>
                <a:sym typeface="Arial MT Pro"/>
              </a:rPr>
              <a:t>MERKSATZ: Licht steuert unsere innere Uhr. Nutze das richtige Licht zur richtigen Zeit für besseren Schlaf und mehr Wohlbefinden.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</Words>
  <Application>Microsoft Office PowerPoint</Application>
  <PresentationFormat>Benutzerdefiniert</PresentationFormat>
  <Paragraphs>104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Arial MT Pro</vt:lpstr>
      <vt:lpstr>Roboto</vt:lpstr>
      <vt:lpstr>Calibri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LH4_V1_bearbeitbar</dc:title>
  <cp:lastModifiedBy>Michael Kohl</cp:lastModifiedBy>
  <cp:revision>1</cp:revision>
  <dcterms:created xsi:type="dcterms:W3CDTF">2006-08-16T00:00:00Z</dcterms:created>
  <dcterms:modified xsi:type="dcterms:W3CDTF">2026-06-05T07:59:18Z</dcterms:modified>
  <dc:identifier>DAHLrywIk9I</dc:identifier>
</cp:coreProperties>
</file>