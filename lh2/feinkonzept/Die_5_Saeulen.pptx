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7562850" cy="10696575"/>
  <p:notesSz cx="10696575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1280" y="-2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6422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D69D9-BBCD-AFD6-8AA5-D40F2DB6F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315B95-6E24-8437-DE31-3733530AC5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D0E767-8B3A-9B30-CE53-25FD9D493C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9DA93D-DF62-8651-4DE4-4D644F6662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450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813" cy="21368200"/>
          </a:xfrm>
          <a:prstGeom prst="rect">
            <a:avLst/>
          </a:prstGeom>
          <a:ln/>
          <a:effectLst>
            <a:outerShdw blurRad="762000" dist="381000" dir="54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14" y="133314"/>
            <a:ext cx="171378" cy="17137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122" y="133314"/>
            <a:ext cx="171378" cy="17137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14" y="21063508"/>
            <a:ext cx="171378" cy="171378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122" y="21063508"/>
            <a:ext cx="171378" cy="171378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5723930" y="209532"/>
            <a:ext cx="1496020" cy="130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675" kern="0" spc="81" dirty="0">
                <a:solidFill>
                  <a:srgbClr val="1A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LH 02 / P 02 — FOLIO 01</a:t>
            </a:r>
            <a:endParaRPr lang="en-US" sz="675" dirty="0"/>
          </a:p>
        </p:txBody>
      </p:sp>
      <p:sp>
        <p:nvSpPr>
          <p:cNvPr id="8" name="Shape 2"/>
          <p:cNvSpPr/>
          <p:nvPr/>
        </p:nvSpPr>
        <p:spPr>
          <a:xfrm>
            <a:off x="552378" y="523424"/>
            <a:ext cx="85689" cy="85689"/>
          </a:xfrm>
          <a:prstGeom prst="ellipse">
            <a:avLst/>
          </a:prstGeom>
          <a:solidFill>
            <a:srgbClr val="B23A2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3"/>
          <p:cNvSpPr/>
          <p:nvPr/>
        </p:nvSpPr>
        <p:spPr>
          <a:xfrm>
            <a:off x="733317" y="514314"/>
            <a:ext cx="923077" cy="142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13" kern="0" spc="128" dirty="0">
                <a:solidFill>
                  <a:srgbClr val="1A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DURCHBLICKT!</a:t>
            </a:r>
            <a:endParaRPr lang="en-US" sz="713" dirty="0"/>
          </a:p>
        </p:txBody>
      </p:sp>
      <p:sp>
        <p:nvSpPr>
          <p:cNvPr id="10" name="Text 4"/>
          <p:cNvSpPr/>
          <p:nvPr/>
        </p:nvSpPr>
        <p:spPr>
          <a:xfrm>
            <a:off x="1675444" y="514314"/>
            <a:ext cx="146826" cy="142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13" kern="0" spc="128" dirty="0">
                <a:solidFill>
                  <a:srgbClr val="8A7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713" dirty="0"/>
          </a:p>
        </p:txBody>
      </p:sp>
      <p:sp>
        <p:nvSpPr>
          <p:cNvPr id="11" name="Text 5"/>
          <p:cNvSpPr/>
          <p:nvPr/>
        </p:nvSpPr>
        <p:spPr>
          <a:xfrm>
            <a:off x="1841319" y="514314"/>
            <a:ext cx="358522" cy="142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13" kern="0" spc="128" dirty="0">
                <a:solidFill>
                  <a:srgbClr val="1A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LH 2</a:t>
            </a:r>
            <a:endParaRPr lang="en-US" sz="713" dirty="0"/>
          </a:p>
        </p:txBody>
      </p:sp>
      <p:sp>
        <p:nvSpPr>
          <p:cNvPr id="12" name="Text 6"/>
          <p:cNvSpPr/>
          <p:nvPr/>
        </p:nvSpPr>
        <p:spPr>
          <a:xfrm>
            <a:off x="2218892" y="514314"/>
            <a:ext cx="146826" cy="142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13" kern="0" spc="128" dirty="0">
                <a:solidFill>
                  <a:srgbClr val="8A7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713" dirty="0"/>
          </a:p>
        </p:txBody>
      </p:sp>
      <p:sp>
        <p:nvSpPr>
          <p:cNvPr id="13" name="Text 7"/>
          <p:cNvSpPr/>
          <p:nvPr/>
        </p:nvSpPr>
        <p:spPr>
          <a:xfrm>
            <a:off x="2384768" y="514314"/>
            <a:ext cx="1558257" cy="142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13" kern="0" spc="128" dirty="0">
                <a:solidFill>
                  <a:srgbClr val="1A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 — ERARBEITUNG</a:t>
            </a:r>
            <a:endParaRPr lang="en-US" sz="713" dirty="0"/>
          </a:p>
        </p:txBody>
      </p:sp>
      <p:sp>
        <p:nvSpPr>
          <p:cNvPr id="14" name="Text 8"/>
          <p:cNvSpPr/>
          <p:nvPr/>
        </p:nvSpPr>
        <p:spPr>
          <a:xfrm>
            <a:off x="6022397" y="514314"/>
            <a:ext cx="1064238" cy="142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13" kern="0" spc="128" dirty="0">
                <a:solidFill>
                  <a:srgbClr val="8A7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EDITORIAL · A4</a:t>
            </a:r>
            <a:endParaRPr lang="en-US" sz="713" dirty="0"/>
          </a:p>
        </p:txBody>
      </p:sp>
      <p:sp>
        <p:nvSpPr>
          <p:cNvPr id="15" name="Text 9"/>
          <p:cNvSpPr/>
          <p:nvPr/>
        </p:nvSpPr>
        <p:spPr>
          <a:xfrm>
            <a:off x="552378" y="865729"/>
            <a:ext cx="6651799" cy="1423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400" kern="0" spc="-158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</a:t>
            </a:r>
            <a:r>
              <a:rPr lang="en-US" sz="4400" b="1" i="1" kern="0" spc="-158" dirty="0">
                <a:solidFill>
                  <a:srgbClr val="B23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FÜNF </a:t>
            </a:r>
            <a:r>
              <a:rPr lang="en-US" sz="4400" kern="0" spc="-158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Bausteine der digitalen </a:t>
            </a:r>
            <a:r>
              <a:rPr lang="en-US" sz="4400" i="1" kern="0" spc="-158" dirty="0">
                <a:solidFill>
                  <a:srgbClr val="B23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Identität</a:t>
            </a:r>
            <a:r>
              <a:rPr lang="en-US" sz="4400" i="1" kern="0" spc="-158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4400" dirty="0"/>
          </a:p>
        </p:txBody>
      </p:sp>
      <p:sp>
        <p:nvSpPr>
          <p:cNvPr id="16" name="Shape 10"/>
          <p:cNvSpPr/>
          <p:nvPr/>
        </p:nvSpPr>
        <p:spPr>
          <a:xfrm>
            <a:off x="552378" y="2165689"/>
            <a:ext cx="6458058" cy="9525"/>
          </a:xfrm>
          <a:prstGeom prst="rect">
            <a:avLst/>
          </a:prstGeom>
          <a:solidFill>
            <a:srgbClr val="1A161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Shape 11"/>
          <p:cNvSpPr/>
          <p:nvPr/>
        </p:nvSpPr>
        <p:spPr>
          <a:xfrm>
            <a:off x="552378" y="3355322"/>
            <a:ext cx="6458058" cy="9525"/>
          </a:xfrm>
          <a:prstGeom prst="rect">
            <a:avLst/>
          </a:prstGeom>
          <a:solidFill>
            <a:srgbClr val="1A161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2"/>
          <p:cNvSpPr/>
          <p:nvPr/>
        </p:nvSpPr>
        <p:spPr>
          <a:xfrm>
            <a:off x="552378" y="2308474"/>
            <a:ext cx="1980659" cy="1555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638" kern="0" spc="115" dirty="0">
                <a:solidFill>
                  <a:srgbClr val="8A7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LEITFRAGE</a:t>
            </a:r>
            <a:endParaRPr lang="en-US" sz="638" dirty="0"/>
          </a:p>
        </p:txBody>
      </p:sp>
      <p:sp>
        <p:nvSpPr>
          <p:cNvPr id="19" name="Text 13"/>
          <p:cNvSpPr/>
          <p:nvPr/>
        </p:nvSpPr>
        <p:spPr>
          <a:xfrm>
            <a:off x="552378" y="2500327"/>
            <a:ext cx="1715655" cy="662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00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Woraus besteht eigentlich eine digitale Identität — und welche Entscheidungen treffen wir beim Aufbau jeder einzelnen Schicht?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2742587" y="2308474"/>
            <a:ext cx="2153750" cy="1555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638" kern="0" spc="115" dirty="0">
                <a:solidFill>
                  <a:srgbClr val="8A7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METHODISCHER ZWECK</a:t>
            </a:r>
            <a:endParaRPr lang="en-US" sz="638" dirty="0"/>
          </a:p>
        </p:txBody>
      </p:sp>
      <p:sp>
        <p:nvSpPr>
          <p:cNvPr id="21" name="Text 15"/>
          <p:cNvSpPr/>
          <p:nvPr/>
        </p:nvSpPr>
        <p:spPr>
          <a:xfrm>
            <a:off x="2742587" y="2500327"/>
            <a:ext cx="1861776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00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editoriales Referenzblatt für die Erarbeitungs­phase: fünf Bausteine, benennbar, diskutierbar, prüfbar.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5105887" y="2308474"/>
            <a:ext cx="1980659" cy="1555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638" kern="0" spc="115" dirty="0">
                <a:solidFill>
                  <a:srgbClr val="8A7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KERNBOTSCHAFT</a:t>
            </a:r>
            <a:endParaRPr lang="en-US" sz="638" dirty="0"/>
          </a:p>
        </p:txBody>
      </p:sp>
      <p:sp>
        <p:nvSpPr>
          <p:cNvPr id="23" name="Text 17"/>
          <p:cNvSpPr/>
          <p:nvPr/>
        </p:nvSpPr>
        <p:spPr>
          <a:xfrm>
            <a:off x="5105887" y="2500327"/>
            <a:ext cx="1892895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00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Identität im Netz ist nicht gegeben, sie wird Stück für Stück zusammen­gesetzt — mit Absicht oder ohne.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 rot="2700000">
            <a:off x="575168" y="3642844"/>
            <a:ext cx="171450" cy="171450"/>
          </a:xfrm>
          <a:prstGeom prst="rect">
            <a:avLst/>
          </a:prstGeom>
          <a:solidFill>
            <a:srgbClr val="B23A2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19"/>
          <p:cNvSpPr/>
          <p:nvPr/>
        </p:nvSpPr>
        <p:spPr>
          <a:xfrm>
            <a:off x="1051364" y="3509566"/>
            <a:ext cx="6122149" cy="1144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00" kern="0" spc="-16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Jeder Account ist eine </a:t>
            </a:r>
            <a:r>
              <a:rPr lang="en-US" sz="1400" i="1" kern="0" spc="-16" dirty="0">
                <a:solidFill>
                  <a:srgbClr val="B23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Montage </a:t>
            </a:r>
            <a:r>
              <a:rPr lang="en-US" sz="1400" kern="0" spc="-16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Aus Bild, Text, Spur und Resonanz entsteht ein Selbst, das andere lesen — lange bevor sie uns begegnen. Dieses Blatt zerlegt die Montage in ihre </a:t>
            </a:r>
            <a:r>
              <a:rPr lang="en-US" sz="1400" i="1" kern="0" spc="-16" dirty="0">
                <a:solidFill>
                  <a:srgbClr val="B23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fünf tragenden Teile </a:t>
            </a:r>
            <a:r>
              <a:rPr lang="en-US" sz="1400" kern="0" spc="-16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571410" y="4487425"/>
            <a:ext cx="6458058" cy="9525"/>
          </a:xfrm>
          <a:prstGeom prst="rect">
            <a:avLst/>
          </a:prstGeom>
          <a:solidFill>
            <a:srgbClr val="1A161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9" name="Shape 23"/>
          <p:cNvSpPr/>
          <p:nvPr/>
        </p:nvSpPr>
        <p:spPr>
          <a:xfrm>
            <a:off x="552378" y="6869614"/>
            <a:ext cx="6458058" cy="9525"/>
          </a:xfrm>
          <a:prstGeom prst="rect">
            <a:avLst/>
          </a:prstGeom>
          <a:solidFill>
            <a:srgbClr val="1A161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Text 24"/>
          <p:cNvSpPr/>
          <p:nvPr/>
        </p:nvSpPr>
        <p:spPr>
          <a:xfrm>
            <a:off x="552378" y="4457425"/>
            <a:ext cx="1093643" cy="1331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6600" b="1" i="1" kern="0" spc="-330" dirty="0">
                <a:solidFill>
                  <a:srgbClr val="B23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600" dirty="0"/>
          </a:p>
        </p:txBody>
      </p:sp>
      <p:sp>
        <p:nvSpPr>
          <p:cNvPr id="31" name="Text 25"/>
          <p:cNvSpPr/>
          <p:nvPr/>
        </p:nvSpPr>
        <p:spPr>
          <a:xfrm>
            <a:off x="570526" y="5266600"/>
            <a:ext cx="1104918" cy="127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25" kern="0" spc="99" dirty="0">
                <a:solidFill>
                  <a:srgbClr val="1A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Profilbild</a:t>
            </a:r>
            <a:endParaRPr lang="en-US" sz="825" dirty="0"/>
          </a:p>
        </p:txBody>
      </p:sp>
      <p:sp>
        <p:nvSpPr>
          <p:cNvPr id="32" name="Text 26"/>
          <p:cNvSpPr/>
          <p:nvPr/>
        </p:nvSpPr>
        <p:spPr>
          <a:xfrm>
            <a:off x="1809660" y="4716567"/>
            <a:ext cx="3375047" cy="138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kern="0" spc="135" dirty="0">
                <a:solidFill>
                  <a:srgbClr val="8A7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BAUSTEIN I · DAS GESICHT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1809660" y="4850512"/>
            <a:ext cx="2634409" cy="604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50" b="1" kern="0" spc="-29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</a:t>
            </a:r>
            <a:r>
              <a:rPr lang="en-US" b="1" kern="0" spc="-29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erste Blick, der nie zurückgenommen wird.</a:t>
            </a: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1809660" y="5372258"/>
            <a:ext cx="3375047" cy="5308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63" dirty="0">
                <a:solidFill>
                  <a:srgbClr val="3A3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Bruchteil einer Sekunde entscheidet über Vertrauen, Nähe, Ironie oder Distanz. Das Profilbild ist keine Illustration — es ist ein Versprechen über die Art, wie wir gelesen werden wollen.</a:t>
            </a:r>
            <a:endParaRPr lang="en-US" sz="863" dirty="0"/>
          </a:p>
        </p:txBody>
      </p:sp>
      <p:sp>
        <p:nvSpPr>
          <p:cNvPr id="35" name="Shape 29"/>
          <p:cNvSpPr/>
          <p:nvPr/>
        </p:nvSpPr>
        <p:spPr>
          <a:xfrm>
            <a:off x="1809660" y="6076946"/>
            <a:ext cx="17318" cy="583136"/>
          </a:xfrm>
          <a:prstGeom prst="rect">
            <a:avLst/>
          </a:prstGeom>
          <a:solidFill>
            <a:srgbClr val="B23A2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6" name="Text 30"/>
          <p:cNvSpPr/>
          <p:nvPr/>
        </p:nvSpPr>
        <p:spPr>
          <a:xfrm>
            <a:off x="1809606" y="5920649"/>
            <a:ext cx="3200107" cy="153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675" b="1" kern="0" spc="122" dirty="0">
                <a:solidFill>
                  <a:srgbClr val="B23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DIE ENTSCHEIDUNG</a:t>
            </a:r>
            <a:endParaRPr lang="en-US" sz="675" dirty="0"/>
          </a:p>
        </p:txBody>
      </p:sp>
      <p:sp>
        <p:nvSpPr>
          <p:cNvPr id="37" name="Text 31"/>
          <p:cNvSpPr/>
          <p:nvPr/>
        </p:nvSpPr>
        <p:spPr>
          <a:xfrm>
            <a:off x="1950153" y="6136478"/>
            <a:ext cx="2097340" cy="47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>
              <a:lnSpc>
                <a:spcPct val="135000"/>
              </a:lnSpc>
            </a:pPr>
            <a:r>
              <a:rPr lang="en-US" sz="975" i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Zeige </a:t>
            </a:r>
            <a:r>
              <a:rPr lang="en-US" sz="975" i="1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ich mein Gesicht, eine Rolle oder ein Symbol — und wie viel Abstand lasse ich dem Betrachter?</a:t>
            </a:r>
            <a:endParaRPr lang="en-US" sz="975" dirty="0"/>
          </a:p>
        </p:txBody>
      </p:sp>
      <p:sp>
        <p:nvSpPr>
          <p:cNvPr id="40" name="Shape 34"/>
          <p:cNvSpPr/>
          <p:nvPr/>
        </p:nvSpPr>
        <p:spPr>
          <a:xfrm>
            <a:off x="5295936" y="4716567"/>
            <a:ext cx="1714500" cy="1714500"/>
          </a:xfrm>
          <a:prstGeom prst="rect">
            <a:avLst/>
          </a:prstGeom>
          <a:solidFill>
            <a:srgbClr val="E8DFC9"/>
          </a:solidFill>
          <a:ln w="5773">
            <a:solidFill>
              <a:srgbClr val="1A1612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Text 35"/>
          <p:cNvSpPr/>
          <p:nvPr/>
        </p:nvSpPr>
        <p:spPr>
          <a:xfrm>
            <a:off x="6597595" y="4769965"/>
            <a:ext cx="426172" cy="118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563" kern="0" spc="56" dirty="0">
                <a:solidFill>
                  <a:srgbClr val="1A1612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FIG. 01</a:t>
            </a:r>
            <a:endParaRPr lang="en-US" sz="563" dirty="0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1708" y="4722340"/>
            <a:ext cx="1702954" cy="1702954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5358804" y="6306412"/>
            <a:ext cx="1201160" cy="118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563" kern="0" spc="84" dirty="0">
                <a:solidFill>
                  <a:srgbClr val="1A1612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OF THIRDS · CROP</a:t>
            </a:r>
            <a:endParaRPr lang="en-US" sz="563" dirty="0"/>
          </a:p>
        </p:txBody>
      </p:sp>
      <p:sp>
        <p:nvSpPr>
          <p:cNvPr id="44" name="Shape 37"/>
          <p:cNvSpPr/>
          <p:nvPr/>
        </p:nvSpPr>
        <p:spPr>
          <a:xfrm>
            <a:off x="628488" y="9313710"/>
            <a:ext cx="6458058" cy="9525"/>
          </a:xfrm>
          <a:prstGeom prst="rect">
            <a:avLst/>
          </a:prstGeom>
          <a:solidFill>
            <a:srgbClr val="1A161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5" name="Text 38"/>
          <p:cNvSpPr/>
          <p:nvPr/>
        </p:nvSpPr>
        <p:spPr>
          <a:xfrm>
            <a:off x="552378" y="6942617"/>
            <a:ext cx="1239224" cy="1331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250" b="1" i="1" kern="0" spc="-330">
                <a:solidFill>
                  <a:srgbClr val="1F3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250" dirty="0"/>
          </a:p>
        </p:txBody>
      </p:sp>
      <p:sp>
        <p:nvSpPr>
          <p:cNvPr id="46" name="Text 39"/>
          <p:cNvSpPr/>
          <p:nvPr/>
        </p:nvSpPr>
        <p:spPr>
          <a:xfrm>
            <a:off x="595222" y="7832763"/>
            <a:ext cx="1104918" cy="127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25" kern="0" spc="99" dirty="0">
                <a:solidFill>
                  <a:srgbClr val="1A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Bio</a:t>
            </a:r>
            <a:endParaRPr lang="en-US" sz="825" dirty="0"/>
          </a:p>
        </p:txBody>
      </p:sp>
      <p:sp>
        <p:nvSpPr>
          <p:cNvPr id="47" name="Text 40"/>
          <p:cNvSpPr/>
          <p:nvPr/>
        </p:nvSpPr>
        <p:spPr>
          <a:xfrm>
            <a:off x="1809660" y="7201758"/>
            <a:ext cx="3375047" cy="138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kern="0" spc="135" dirty="0">
                <a:solidFill>
                  <a:srgbClr val="8A7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BAUSTEIN II · DER CLAIM</a:t>
            </a:r>
            <a:endParaRPr lang="en-US" sz="750" dirty="0"/>
          </a:p>
        </p:txBody>
      </p:sp>
      <p:sp>
        <p:nvSpPr>
          <p:cNvPr id="48" name="Text 41"/>
          <p:cNvSpPr/>
          <p:nvPr/>
        </p:nvSpPr>
        <p:spPr>
          <a:xfrm>
            <a:off x="1809660" y="7335704"/>
            <a:ext cx="2749332" cy="604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50" b="1" kern="0" spc="-29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 Zeichen, in denen ein Selbst sich verdichtet.</a:t>
            </a:r>
            <a:endParaRPr lang="en-US" sz="1950" dirty="0"/>
          </a:p>
        </p:txBody>
      </p:sp>
      <p:sp>
        <p:nvSpPr>
          <p:cNvPr id="49" name="Text 42"/>
          <p:cNvSpPr/>
          <p:nvPr/>
        </p:nvSpPr>
        <p:spPr>
          <a:xfrm>
            <a:off x="1809660" y="7974131"/>
            <a:ext cx="3375047" cy="5308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63" dirty="0">
                <a:solidFill>
                  <a:srgbClr val="3A3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Bio ist Manifest im Kleinformat: Was zähle ich auf, was lasse ich weg? Jedes Wort hier ist eine Koordinate — und jede Auslassung ein bewusster Schatten.</a:t>
            </a:r>
            <a:endParaRPr lang="en-US" sz="863" dirty="0"/>
          </a:p>
        </p:txBody>
      </p:sp>
      <p:sp>
        <p:nvSpPr>
          <p:cNvPr id="50" name="Shape 43"/>
          <p:cNvSpPr/>
          <p:nvPr/>
        </p:nvSpPr>
        <p:spPr>
          <a:xfrm>
            <a:off x="1809660" y="8562137"/>
            <a:ext cx="17318" cy="583136"/>
          </a:xfrm>
          <a:prstGeom prst="rect">
            <a:avLst/>
          </a:prstGeom>
          <a:solidFill>
            <a:srgbClr val="1F3B5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1" name="Text 44"/>
          <p:cNvSpPr/>
          <p:nvPr/>
        </p:nvSpPr>
        <p:spPr>
          <a:xfrm>
            <a:off x="1941260" y="8619233"/>
            <a:ext cx="3200107" cy="153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675" b="1" kern="0" spc="122" dirty="0">
                <a:solidFill>
                  <a:srgbClr val="1F3B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DIE ENTSCHEIDUNG</a:t>
            </a:r>
            <a:endParaRPr lang="en-US" sz="675" dirty="0"/>
          </a:p>
        </p:txBody>
      </p:sp>
      <p:sp>
        <p:nvSpPr>
          <p:cNvPr id="52" name="Text 45"/>
          <p:cNvSpPr/>
          <p:nvPr/>
        </p:nvSpPr>
        <p:spPr>
          <a:xfrm>
            <a:off x="1941260" y="8759673"/>
            <a:ext cx="466942" cy="188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i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Welche</a:t>
            </a:r>
            <a:endParaRPr lang="en-US" sz="975" dirty="0"/>
          </a:p>
        </p:txBody>
      </p:sp>
      <p:sp>
        <p:nvSpPr>
          <p:cNvPr id="53" name="Text 46"/>
          <p:cNvSpPr/>
          <p:nvPr/>
        </p:nvSpPr>
        <p:spPr>
          <a:xfrm>
            <a:off x="2356445" y="8759673"/>
            <a:ext cx="642378" cy="188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i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drei Dinge</a:t>
            </a:r>
            <a:endParaRPr lang="en-US" sz="975" dirty="0"/>
          </a:p>
        </p:txBody>
      </p:sp>
      <p:sp>
        <p:nvSpPr>
          <p:cNvPr id="54" name="Text 47"/>
          <p:cNvSpPr/>
          <p:nvPr/>
        </p:nvSpPr>
        <p:spPr>
          <a:xfrm>
            <a:off x="1941260" y="8759673"/>
            <a:ext cx="3088528" cy="355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i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sollen stellvertretend für alles stehen — und wer darf nicht mitlesen?</a:t>
            </a:r>
            <a:endParaRPr lang="en-US" sz="975" dirty="0"/>
          </a:p>
        </p:txBody>
      </p:sp>
      <p:sp>
        <p:nvSpPr>
          <p:cNvPr id="55" name="Shape 48"/>
          <p:cNvSpPr/>
          <p:nvPr/>
        </p:nvSpPr>
        <p:spPr>
          <a:xfrm>
            <a:off x="5295936" y="7201758"/>
            <a:ext cx="1714500" cy="1714500"/>
          </a:xfrm>
          <a:prstGeom prst="rect">
            <a:avLst/>
          </a:prstGeom>
          <a:solidFill>
            <a:srgbClr val="E8DFC9"/>
          </a:solidFill>
          <a:ln w="5773">
            <a:solidFill>
              <a:srgbClr val="1A1612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6" name="Text 49"/>
          <p:cNvSpPr/>
          <p:nvPr/>
        </p:nvSpPr>
        <p:spPr>
          <a:xfrm>
            <a:off x="6097623" y="7255156"/>
            <a:ext cx="926144" cy="118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563" kern="0" spc="56" dirty="0">
                <a:solidFill>
                  <a:srgbClr val="1A1612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FIG. 02 · 147/150</a:t>
            </a:r>
            <a:endParaRPr lang="en-US" sz="563" dirty="0"/>
          </a:p>
        </p:txBody>
      </p:sp>
      <p:pic>
        <p:nvPicPr>
          <p:cNvPr id="5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1708" y="7207531"/>
            <a:ext cx="1702954" cy="1702954"/>
          </a:xfrm>
          <a:prstGeom prst="rect">
            <a:avLst/>
          </a:prstGeom>
        </p:spPr>
      </p:pic>
      <p:sp>
        <p:nvSpPr>
          <p:cNvPr id="58" name="Text 50"/>
          <p:cNvSpPr/>
          <p:nvPr/>
        </p:nvSpPr>
        <p:spPr>
          <a:xfrm>
            <a:off x="5358804" y="8791603"/>
            <a:ext cx="1094004" cy="118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563" kern="0" spc="84" dirty="0">
                <a:solidFill>
                  <a:srgbClr val="1A1612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 · REDACTED LINE</a:t>
            </a:r>
            <a:endParaRPr lang="en-US" sz="563" dirty="0"/>
          </a:p>
        </p:txBody>
      </p:sp>
      <p:sp>
        <p:nvSpPr>
          <p:cNvPr id="59" name="Shape 51"/>
          <p:cNvSpPr/>
          <p:nvPr/>
        </p:nvSpPr>
        <p:spPr>
          <a:xfrm>
            <a:off x="552378" y="13933920"/>
            <a:ext cx="6458058" cy="9525"/>
          </a:xfrm>
          <a:prstGeom prst="rect">
            <a:avLst/>
          </a:prstGeom>
          <a:solidFill>
            <a:srgbClr val="1A161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0" name="Text 52"/>
          <p:cNvSpPr/>
          <p:nvPr/>
        </p:nvSpPr>
        <p:spPr>
          <a:xfrm>
            <a:off x="552378" y="11261688"/>
            <a:ext cx="1239765" cy="1331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6600" b="1" i="1" kern="0" spc="-330" dirty="0">
                <a:solidFill>
                  <a:srgbClr val="C98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6600" dirty="0"/>
          </a:p>
        </p:txBody>
      </p:sp>
      <p:sp>
        <p:nvSpPr>
          <p:cNvPr id="61" name="Text 53"/>
          <p:cNvSpPr/>
          <p:nvPr/>
        </p:nvSpPr>
        <p:spPr>
          <a:xfrm>
            <a:off x="571410" y="12101025"/>
            <a:ext cx="1104918" cy="127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25" kern="0" spc="99" dirty="0">
                <a:solidFill>
                  <a:srgbClr val="1A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Posts</a:t>
            </a:r>
            <a:endParaRPr lang="en-US" sz="825" dirty="0"/>
          </a:p>
        </p:txBody>
      </p:sp>
      <p:sp>
        <p:nvSpPr>
          <p:cNvPr id="62" name="Text 54"/>
          <p:cNvSpPr/>
          <p:nvPr/>
        </p:nvSpPr>
        <p:spPr>
          <a:xfrm>
            <a:off x="1809660" y="11520830"/>
            <a:ext cx="3375047" cy="138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kern="0" spc="135" dirty="0">
                <a:solidFill>
                  <a:srgbClr val="8A7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BAUSTEIN III · DAS ARCHIV</a:t>
            </a:r>
            <a:endParaRPr lang="en-US" sz="750" dirty="0"/>
          </a:p>
        </p:txBody>
      </p:sp>
      <p:sp>
        <p:nvSpPr>
          <p:cNvPr id="63" name="Text 55"/>
          <p:cNvSpPr/>
          <p:nvPr/>
        </p:nvSpPr>
        <p:spPr>
          <a:xfrm>
            <a:off x="1809660" y="11654775"/>
            <a:ext cx="3298307" cy="86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50" b="1" kern="0" spc="-29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 Raster aus Entscheidungen, das nach uns spricht.</a:t>
            </a:r>
            <a:endParaRPr lang="en-US" sz="1950" dirty="0"/>
          </a:p>
        </p:txBody>
      </p:sp>
      <p:sp>
        <p:nvSpPr>
          <p:cNvPr id="64" name="Text 56"/>
          <p:cNvSpPr/>
          <p:nvPr/>
        </p:nvSpPr>
        <p:spPr>
          <a:xfrm>
            <a:off x="1809660" y="12553246"/>
            <a:ext cx="3375047" cy="5308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63" dirty="0">
                <a:solidFill>
                  <a:srgbClr val="3A3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Einzelne Posts sind Punkte, das Grid ist die Linie. Welche Muster bildet das Feed-Quadrat, wenn wir drei Monate zurücktreten? Jede Geste wird Teil einer stillen Erzählung.</a:t>
            </a:r>
            <a:endParaRPr lang="en-US" sz="863" dirty="0"/>
          </a:p>
        </p:txBody>
      </p:sp>
      <p:sp>
        <p:nvSpPr>
          <p:cNvPr id="65" name="Shape 57"/>
          <p:cNvSpPr/>
          <p:nvPr/>
        </p:nvSpPr>
        <p:spPr>
          <a:xfrm>
            <a:off x="1809660" y="13141252"/>
            <a:ext cx="17318" cy="583136"/>
          </a:xfrm>
          <a:prstGeom prst="rect">
            <a:avLst/>
          </a:prstGeom>
          <a:solidFill>
            <a:srgbClr val="C98F2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6" name="Text 58"/>
          <p:cNvSpPr/>
          <p:nvPr/>
        </p:nvSpPr>
        <p:spPr>
          <a:xfrm>
            <a:off x="1941260" y="13198348"/>
            <a:ext cx="3200107" cy="153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675" b="1" kern="0" spc="122" dirty="0">
                <a:solidFill>
                  <a:srgbClr val="C98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DIE ENTSCHEIDUNG</a:t>
            </a:r>
            <a:endParaRPr lang="en-US" sz="675" dirty="0"/>
          </a:p>
        </p:txBody>
      </p:sp>
      <p:sp>
        <p:nvSpPr>
          <p:cNvPr id="67" name="Text 59"/>
          <p:cNvSpPr/>
          <p:nvPr/>
        </p:nvSpPr>
        <p:spPr>
          <a:xfrm>
            <a:off x="1941260" y="13338788"/>
            <a:ext cx="1832462" cy="188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i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darf bleiben — und wann ist</a:t>
            </a:r>
            <a:endParaRPr lang="en-US" sz="975" dirty="0"/>
          </a:p>
        </p:txBody>
      </p:sp>
      <p:sp>
        <p:nvSpPr>
          <p:cNvPr id="68" name="Text 60"/>
          <p:cNvSpPr/>
          <p:nvPr/>
        </p:nvSpPr>
        <p:spPr>
          <a:xfrm>
            <a:off x="3721966" y="13338788"/>
            <a:ext cx="718506" cy="188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i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Archivieren</a:t>
            </a:r>
            <a:endParaRPr lang="en-US" sz="975" dirty="0"/>
          </a:p>
        </p:txBody>
      </p:sp>
      <p:sp>
        <p:nvSpPr>
          <p:cNvPr id="69" name="Text 61"/>
          <p:cNvSpPr/>
          <p:nvPr/>
        </p:nvSpPr>
        <p:spPr>
          <a:xfrm>
            <a:off x="1941260" y="13338788"/>
            <a:ext cx="3128756" cy="355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i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 Akt der Selbstsorge?</a:t>
            </a:r>
            <a:endParaRPr lang="en-US" sz="975" dirty="0"/>
          </a:p>
        </p:txBody>
      </p:sp>
      <p:sp>
        <p:nvSpPr>
          <p:cNvPr id="70" name="Shape 62"/>
          <p:cNvSpPr/>
          <p:nvPr/>
        </p:nvSpPr>
        <p:spPr>
          <a:xfrm>
            <a:off x="5295936" y="11520830"/>
            <a:ext cx="1714500" cy="1714500"/>
          </a:xfrm>
          <a:prstGeom prst="rect">
            <a:avLst/>
          </a:prstGeom>
          <a:solidFill>
            <a:srgbClr val="E8DFC9"/>
          </a:solidFill>
          <a:ln w="5773">
            <a:solidFill>
              <a:srgbClr val="1A1612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1" name="Text 63"/>
          <p:cNvSpPr/>
          <p:nvPr/>
        </p:nvSpPr>
        <p:spPr>
          <a:xfrm>
            <a:off x="6597595" y="11574228"/>
            <a:ext cx="426172" cy="118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563" kern="0" spc="56" dirty="0">
                <a:solidFill>
                  <a:srgbClr val="1A1612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FIG. 03</a:t>
            </a:r>
            <a:endParaRPr lang="en-US" sz="563" dirty="0"/>
          </a:p>
        </p:txBody>
      </p:sp>
      <p:pic>
        <p:nvPicPr>
          <p:cNvPr id="72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1708" y="11526603"/>
            <a:ext cx="1702954" cy="1702954"/>
          </a:xfrm>
          <a:prstGeom prst="rect">
            <a:avLst/>
          </a:prstGeom>
        </p:spPr>
      </p:pic>
      <p:sp>
        <p:nvSpPr>
          <p:cNvPr id="73" name="Text 64"/>
          <p:cNvSpPr/>
          <p:nvPr/>
        </p:nvSpPr>
        <p:spPr>
          <a:xfrm>
            <a:off x="5358804" y="13110674"/>
            <a:ext cx="1522539" cy="118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563" kern="0" spc="84" dirty="0">
                <a:solidFill>
                  <a:srgbClr val="1A1612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 · 3×3 · FEED CONTINUES</a:t>
            </a:r>
            <a:endParaRPr lang="en-US" sz="563" dirty="0"/>
          </a:p>
        </p:txBody>
      </p:sp>
      <p:sp>
        <p:nvSpPr>
          <p:cNvPr id="74" name="Shape 65"/>
          <p:cNvSpPr/>
          <p:nvPr/>
        </p:nvSpPr>
        <p:spPr>
          <a:xfrm>
            <a:off x="552378" y="16302271"/>
            <a:ext cx="6458058" cy="9525"/>
          </a:xfrm>
          <a:prstGeom prst="rect">
            <a:avLst/>
          </a:prstGeom>
          <a:solidFill>
            <a:srgbClr val="1A161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5" name="Text 66"/>
          <p:cNvSpPr/>
          <p:nvPr/>
        </p:nvSpPr>
        <p:spPr>
          <a:xfrm>
            <a:off x="552378" y="13890083"/>
            <a:ext cx="1272778" cy="1331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6600" b="1" i="1" kern="0" spc="-330" dirty="0">
                <a:solidFill>
                  <a:srgbClr val="4A6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6600" dirty="0"/>
          </a:p>
        </p:txBody>
      </p:sp>
      <p:sp>
        <p:nvSpPr>
          <p:cNvPr id="76" name="Text 67"/>
          <p:cNvSpPr/>
          <p:nvPr/>
        </p:nvSpPr>
        <p:spPr>
          <a:xfrm>
            <a:off x="528665" y="14671114"/>
            <a:ext cx="1220192" cy="216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25" kern="0" spc="99" dirty="0">
                <a:solidFill>
                  <a:srgbClr val="1A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Interaktionen</a:t>
            </a:r>
            <a:endParaRPr lang="en-US" sz="825" dirty="0"/>
          </a:p>
        </p:txBody>
      </p:sp>
      <p:sp>
        <p:nvSpPr>
          <p:cNvPr id="77" name="Text 68"/>
          <p:cNvSpPr/>
          <p:nvPr/>
        </p:nvSpPr>
        <p:spPr>
          <a:xfrm>
            <a:off x="1809660" y="14149224"/>
            <a:ext cx="3375047" cy="138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kern="0" spc="135" dirty="0">
                <a:solidFill>
                  <a:srgbClr val="8A7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BAUSTEIN IV · DIE RESONANZ</a:t>
            </a:r>
            <a:endParaRPr lang="en-US" sz="750" dirty="0"/>
          </a:p>
        </p:txBody>
      </p:sp>
      <p:sp>
        <p:nvSpPr>
          <p:cNvPr id="78" name="Text 69"/>
          <p:cNvSpPr/>
          <p:nvPr/>
        </p:nvSpPr>
        <p:spPr>
          <a:xfrm>
            <a:off x="1809660" y="14283169"/>
            <a:ext cx="2801081" cy="604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50" b="1" kern="0" spc="-29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Das, was aus anderen zurückkommt, formt mit.</a:t>
            </a:r>
            <a:endParaRPr lang="en-US" sz="1950" dirty="0"/>
          </a:p>
        </p:txBody>
      </p:sp>
      <p:sp>
        <p:nvSpPr>
          <p:cNvPr id="79" name="Text 70"/>
          <p:cNvSpPr/>
          <p:nvPr/>
        </p:nvSpPr>
        <p:spPr>
          <a:xfrm>
            <a:off x="1809660" y="14921598"/>
            <a:ext cx="3375047" cy="5308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63" dirty="0">
                <a:solidFill>
                  <a:srgbClr val="3A3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Likes, Antworten, Shares, stille Screenshots — jede Reaktion ist ein kleiner Spiegel. Zusammen­genommen verändern sie, wie wir uns selbst in Szene setzen. Oft unbemerkt.</a:t>
            </a:r>
            <a:endParaRPr lang="en-US" sz="863" dirty="0"/>
          </a:p>
        </p:txBody>
      </p:sp>
      <p:sp>
        <p:nvSpPr>
          <p:cNvPr id="80" name="Shape 71"/>
          <p:cNvSpPr/>
          <p:nvPr/>
        </p:nvSpPr>
        <p:spPr>
          <a:xfrm>
            <a:off x="1809660" y="15509604"/>
            <a:ext cx="17318" cy="583136"/>
          </a:xfrm>
          <a:prstGeom prst="rect">
            <a:avLst/>
          </a:prstGeom>
          <a:solidFill>
            <a:srgbClr val="4A6B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1" name="Text 72"/>
          <p:cNvSpPr/>
          <p:nvPr/>
        </p:nvSpPr>
        <p:spPr>
          <a:xfrm>
            <a:off x="1941260" y="15566699"/>
            <a:ext cx="3200107" cy="153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675" b="1" kern="0" spc="122" dirty="0">
                <a:solidFill>
                  <a:srgbClr val="4A6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DIE ENTSCHEIDUNG</a:t>
            </a:r>
            <a:endParaRPr lang="en-US" sz="675" dirty="0"/>
          </a:p>
        </p:txBody>
      </p:sp>
      <p:sp>
        <p:nvSpPr>
          <p:cNvPr id="82" name="Text 73"/>
          <p:cNvSpPr/>
          <p:nvPr/>
        </p:nvSpPr>
        <p:spPr>
          <a:xfrm>
            <a:off x="1941260" y="15707139"/>
            <a:ext cx="1016974" cy="188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i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Welche Resonanz</a:t>
            </a:r>
            <a:endParaRPr lang="en-US" sz="975" dirty="0"/>
          </a:p>
        </p:txBody>
      </p:sp>
      <p:sp>
        <p:nvSpPr>
          <p:cNvPr id="83" name="Text 74"/>
          <p:cNvSpPr/>
          <p:nvPr/>
        </p:nvSpPr>
        <p:spPr>
          <a:xfrm>
            <a:off x="2906478" y="15707139"/>
            <a:ext cx="381523" cy="188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i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suche</a:t>
            </a:r>
            <a:endParaRPr lang="en-US" sz="975" dirty="0"/>
          </a:p>
        </p:txBody>
      </p:sp>
      <p:sp>
        <p:nvSpPr>
          <p:cNvPr id="84" name="Text 75"/>
          <p:cNvSpPr/>
          <p:nvPr/>
        </p:nvSpPr>
        <p:spPr>
          <a:xfrm>
            <a:off x="1941260" y="15707139"/>
            <a:ext cx="3133866" cy="355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i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ich — und welche nehme ich nur, wenn sie zufällig vorbeikommt?</a:t>
            </a:r>
            <a:endParaRPr lang="en-US" sz="975" dirty="0"/>
          </a:p>
        </p:txBody>
      </p:sp>
      <p:sp>
        <p:nvSpPr>
          <p:cNvPr id="85" name="Shape 76"/>
          <p:cNvSpPr/>
          <p:nvPr/>
        </p:nvSpPr>
        <p:spPr>
          <a:xfrm>
            <a:off x="5295936" y="14149224"/>
            <a:ext cx="1714500" cy="1714500"/>
          </a:xfrm>
          <a:prstGeom prst="rect">
            <a:avLst/>
          </a:prstGeom>
          <a:solidFill>
            <a:srgbClr val="E8DFC9"/>
          </a:solidFill>
          <a:ln w="5773">
            <a:solidFill>
              <a:srgbClr val="1A1612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6" name="Text 77"/>
          <p:cNvSpPr/>
          <p:nvPr/>
        </p:nvSpPr>
        <p:spPr>
          <a:xfrm>
            <a:off x="6597595" y="14202622"/>
            <a:ext cx="426172" cy="118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563" kern="0" spc="56" dirty="0">
                <a:solidFill>
                  <a:srgbClr val="1A1612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FIG. 04</a:t>
            </a:r>
            <a:endParaRPr lang="en-US" sz="563" dirty="0"/>
          </a:p>
        </p:txBody>
      </p:sp>
      <p:pic>
        <p:nvPicPr>
          <p:cNvPr id="87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1708" y="14154997"/>
            <a:ext cx="1702954" cy="1702954"/>
          </a:xfrm>
          <a:prstGeom prst="rect">
            <a:avLst/>
          </a:prstGeom>
        </p:spPr>
      </p:pic>
      <p:sp>
        <p:nvSpPr>
          <p:cNvPr id="88" name="Text 78"/>
          <p:cNvSpPr/>
          <p:nvPr/>
        </p:nvSpPr>
        <p:spPr>
          <a:xfrm>
            <a:off x="5358804" y="15739070"/>
            <a:ext cx="772625" cy="118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563" kern="0" spc="84" dirty="0">
                <a:solidFill>
                  <a:srgbClr val="1A1612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RESONANZ · 7D</a:t>
            </a:r>
            <a:endParaRPr lang="en-US" sz="563" dirty="0"/>
          </a:p>
        </p:txBody>
      </p:sp>
      <p:sp>
        <p:nvSpPr>
          <p:cNvPr id="89" name="Shape 79"/>
          <p:cNvSpPr/>
          <p:nvPr/>
        </p:nvSpPr>
        <p:spPr>
          <a:xfrm>
            <a:off x="552378" y="18670622"/>
            <a:ext cx="6458058" cy="9525"/>
          </a:xfrm>
          <a:prstGeom prst="rect">
            <a:avLst/>
          </a:prstGeom>
          <a:solidFill>
            <a:srgbClr val="1A161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0" name="Text 80"/>
          <p:cNvSpPr/>
          <p:nvPr/>
        </p:nvSpPr>
        <p:spPr>
          <a:xfrm>
            <a:off x="552378" y="16258435"/>
            <a:ext cx="1246079" cy="1331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6600" b="1" i="1" kern="0" spc="-330" dirty="0">
                <a:solidFill>
                  <a:srgbClr val="6B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6600" dirty="0"/>
          </a:p>
        </p:txBody>
      </p:sp>
      <p:sp>
        <p:nvSpPr>
          <p:cNvPr id="91" name="Text 81"/>
          <p:cNvSpPr/>
          <p:nvPr/>
        </p:nvSpPr>
        <p:spPr>
          <a:xfrm>
            <a:off x="571410" y="17122996"/>
            <a:ext cx="1104918" cy="127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25" kern="0" spc="99" dirty="0">
                <a:solidFill>
                  <a:srgbClr val="1A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Netzwerk</a:t>
            </a:r>
            <a:endParaRPr lang="en-US" sz="825" dirty="0"/>
          </a:p>
        </p:txBody>
      </p:sp>
      <p:sp>
        <p:nvSpPr>
          <p:cNvPr id="92" name="Text 82"/>
          <p:cNvSpPr/>
          <p:nvPr/>
        </p:nvSpPr>
        <p:spPr>
          <a:xfrm>
            <a:off x="1809660" y="16517576"/>
            <a:ext cx="3375047" cy="138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kern="0" spc="135" dirty="0">
                <a:solidFill>
                  <a:srgbClr val="8A7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BAUSTEIN V · DER KONTEXT</a:t>
            </a:r>
            <a:endParaRPr lang="en-US" sz="750" dirty="0"/>
          </a:p>
        </p:txBody>
      </p:sp>
      <p:sp>
        <p:nvSpPr>
          <p:cNvPr id="93" name="Text 83"/>
          <p:cNvSpPr/>
          <p:nvPr/>
        </p:nvSpPr>
        <p:spPr>
          <a:xfrm>
            <a:off x="1809660" y="16651521"/>
            <a:ext cx="2993022" cy="604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50" b="1" kern="0" spc="-29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Wir sind auch, mit wem wir verbunden sind.</a:t>
            </a:r>
            <a:endParaRPr lang="en-US" sz="1950" dirty="0"/>
          </a:p>
        </p:txBody>
      </p:sp>
      <p:sp>
        <p:nvSpPr>
          <p:cNvPr id="94" name="Text 84"/>
          <p:cNvSpPr/>
          <p:nvPr/>
        </p:nvSpPr>
        <p:spPr>
          <a:xfrm>
            <a:off x="1809660" y="17289948"/>
            <a:ext cx="3375047" cy="5308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63" dirty="0">
                <a:solidFill>
                  <a:srgbClr val="3A3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folgt wem, wer antwortet, wer teilt — das soziale Diagramm ist ein Mitteilungs­format, ohne dass je ein Wort fällt. Die Nachbar­schaft einer Identität ist Teil ihrer Aussage.</a:t>
            </a:r>
            <a:endParaRPr lang="en-US" sz="863" dirty="0"/>
          </a:p>
        </p:txBody>
      </p:sp>
      <p:sp>
        <p:nvSpPr>
          <p:cNvPr id="95" name="Shape 85"/>
          <p:cNvSpPr/>
          <p:nvPr/>
        </p:nvSpPr>
        <p:spPr>
          <a:xfrm>
            <a:off x="1809660" y="17877954"/>
            <a:ext cx="17318" cy="583136"/>
          </a:xfrm>
          <a:prstGeom prst="rect">
            <a:avLst/>
          </a:prstGeom>
          <a:solidFill>
            <a:srgbClr val="6B3A4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6" name="Text 86"/>
          <p:cNvSpPr/>
          <p:nvPr/>
        </p:nvSpPr>
        <p:spPr>
          <a:xfrm>
            <a:off x="1941260" y="17935051"/>
            <a:ext cx="3200107" cy="153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675" b="1" kern="0" spc="122" dirty="0">
                <a:solidFill>
                  <a:srgbClr val="6B3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DIE ENTSCHEIDUNG</a:t>
            </a:r>
            <a:endParaRPr lang="en-US" sz="675" dirty="0"/>
          </a:p>
        </p:txBody>
      </p:sp>
      <p:sp>
        <p:nvSpPr>
          <p:cNvPr id="97" name="Text 87"/>
          <p:cNvSpPr/>
          <p:nvPr/>
        </p:nvSpPr>
        <p:spPr>
          <a:xfrm>
            <a:off x="1941260" y="18075490"/>
            <a:ext cx="608283" cy="188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i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wessen</a:t>
            </a:r>
            <a:endParaRPr lang="en-US" sz="975" dirty="0"/>
          </a:p>
        </p:txBody>
      </p:sp>
      <p:sp>
        <p:nvSpPr>
          <p:cNvPr id="98" name="Text 88"/>
          <p:cNvSpPr/>
          <p:nvPr/>
        </p:nvSpPr>
        <p:spPr>
          <a:xfrm>
            <a:off x="2497787" y="18075490"/>
            <a:ext cx="867695" cy="188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i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Nachbarschaft</a:t>
            </a:r>
            <a:endParaRPr lang="en-US" sz="975" dirty="0"/>
          </a:p>
        </p:txBody>
      </p:sp>
      <p:sp>
        <p:nvSpPr>
          <p:cNvPr id="99" name="Text 89"/>
          <p:cNvSpPr/>
          <p:nvPr/>
        </p:nvSpPr>
        <p:spPr>
          <a:xfrm>
            <a:off x="1941260" y="18075490"/>
            <a:ext cx="2838335" cy="355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i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stelle ich mich — bewusst, beiläufig oder aus Gewohnheit?</a:t>
            </a:r>
            <a:endParaRPr lang="en-US" sz="975" dirty="0"/>
          </a:p>
        </p:txBody>
      </p:sp>
      <p:sp>
        <p:nvSpPr>
          <p:cNvPr id="100" name="Shape 90"/>
          <p:cNvSpPr/>
          <p:nvPr/>
        </p:nvSpPr>
        <p:spPr>
          <a:xfrm>
            <a:off x="5295936" y="16517576"/>
            <a:ext cx="1714500" cy="1714500"/>
          </a:xfrm>
          <a:prstGeom prst="rect">
            <a:avLst/>
          </a:prstGeom>
          <a:solidFill>
            <a:srgbClr val="E8DFC9"/>
          </a:solidFill>
          <a:ln w="5773">
            <a:solidFill>
              <a:srgbClr val="1A1612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1" name="Text 91"/>
          <p:cNvSpPr/>
          <p:nvPr/>
        </p:nvSpPr>
        <p:spPr>
          <a:xfrm>
            <a:off x="6597595" y="16570974"/>
            <a:ext cx="426172" cy="118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563" kern="0" spc="56" dirty="0">
                <a:solidFill>
                  <a:srgbClr val="1A1612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FIG. 05</a:t>
            </a:r>
            <a:endParaRPr lang="en-US" sz="563" dirty="0"/>
          </a:p>
        </p:txBody>
      </p:sp>
      <p:pic>
        <p:nvPicPr>
          <p:cNvPr id="102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1708" y="16523349"/>
            <a:ext cx="1702954" cy="1702954"/>
          </a:xfrm>
          <a:prstGeom prst="rect">
            <a:avLst/>
          </a:prstGeom>
        </p:spPr>
      </p:pic>
      <p:sp>
        <p:nvSpPr>
          <p:cNvPr id="103" name="Text 92"/>
          <p:cNvSpPr/>
          <p:nvPr/>
        </p:nvSpPr>
        <p:spPr>
          <a:xfrm>
            <a:off x="5358804" y="18107421"/>
            <a:ext cx="1040426" cy="118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563" kern="0" spc="84" dirty="0">
                <a:solidFill>
                  <a:srgbClr val="1A1612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EGO-NET · DEGREE 1</a:t>
            </a:r>
            <a:endParaRPr lang="en-US" sz="563" dirty="0"/>
          </a:p>
        </p:txBody>
      </p:sp>
      <p:sp>
        <p:nvSpPr>
          <p:cNvPr id="104" name="Shape 93"/>
          <p:cNvSpPr/>
          <p:nvPr/>
        </p:nvSpPr>
        <p:spPr>
          <a:xfrm>
            <a:off x="552378" y="18943023"/>
            <a:ext cx="6458058" cy="1510921"/>
          </a:xfrm>
          <a:prstGeom prst="rect">
            <a:avLst/>
          </a:prstGeom>
          <a:solidFill>
            <a:srgbClr val="1E1A1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5" name="Text 94"/>
          <p:cNvSpPr/>
          <p:nvPr/>
        </p:nvSpPr>
        <p:spPr>
          <a:xfrm>
            <a:off x="819006" y="19190618"/>
            <a:ext cx="1833815" cy="130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675" kern="0" spc="149" dirty="0">
                <a:solidFill>
                  <a:srgbClr val="C98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KERNBOTSCHAFT · PHASE 2</a:t>
            </a:r>
            <a:endParaRPr lang="en-US" sz="675" dirty="0"/>
          </a:p>
        </p:txBody>
      </p:sp>
      <p:sp>
        <p:nvSpPr>
          <p:cNvPr id="106" name="Text 95"/>
          <p:cNvSpPr/>
          <p:nvPr/>
        </p:nvSpPr>
        <p:spPr>
          <a:xfrm>
            <a:off x="6392213" y="19190618"/>
            <a:ext cx="427795" cy="130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675" kern="0" spc="149" dirty="0">
                <a:solidFill>
                  <a:srgbClr val="8A7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01/01</a:t>
            </a:r>
            <a:endParaRPr lang="en-US" sz="675" dirty="0"/>
          </a:p>
        </p:txBody>
      </p:sp>
      <p:sp>
        <p:nvSpPr>
          <p:cNvPr id="107" name="Text 96"/>
          <p:cNvSpPr/>
          <p:nvPr/>
        </p:nvSpPr>
        <p:spPr>
          <a:xfrm>
            <a:off x="819006" y="19378233"/>
            <a:ext cx="6102546" cy="847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kern="0" spc="-27" dirty="0">
                <a:solidFill>
                  <a:srgbClr val="EDE4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Digitale Identität ist kein Foto. Sie ist eine </a:t>
            </a:r>
            <a:r>
              <a:rPr lang="en-US" sz="1800" i="1" kern="0" spc="-27" dirty="0">
                <a:solidFill>
                  <a:srgbClr val="C98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Montage aus fünf Schichten </a:t>
            </a:r>
            <a:r>
              <a:rPr lang="en-US" sz="1800" kern="0" spc="-27" dirty="0">
                <a:solidFill>
                  <a:srgbClr val="EDE4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und wer ihre Fugen kennt, trifft bessere Entscheidungen über das eigene Bild im Netz.</a:t>
            </a:r>
            <a:endParaRPr lang="en-US" sz="1800" dirty="0"/>
          </a:p>
        </p:txBody>
      </p:sp>
      <p:sp>
        <p:nvSpPr>
          <p:cNvPr id="108" name="Text 97"/>
          <p:cNvSpPr/>
          <p:nvPr/>
        </p:nvSpPr>
        <p:spPr>
          <a:xfrm>
            <a:off x="6207576" y="19076337"/>
            <a:ext cx="707682" cy="130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638" kern="0" spc="115" dirty="0">
                <a:solidFill>
                  <a:srgbClr val="8A7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FOLIO · 01</a:t>
            </a:r>
            <a:endParaRPr lang="en-US" sz="638" dirty="0"/>
          </a:p>
        </p:txBody>
      </p:sp>
      <p:sp>
        <p:nvSpPr>
          <p:cNvPr id="109" name="Shape 98"/>
          <p:cNvSpPr/>
          <p:nvPr/>
        </p:nvSpPr>
        <p:spPr>
          <a:xfrm>
            <a:off x="552378" y="20587258"/>
            <a:ext cx="6458058" cy="9525"/>
          </a:xfrm>
          <a:prstGeom prst="rect">
            <a:avLst/>
          </a:prstGeom>
          <a:solidFill>
            <a:srgbClr val="1A161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0" name="Text 99"/>
          <p:cNvSpPr/>
          <p:nvPr/>
        </p:nvSpPr>
        <p:spPr>
          <a:xfrm>
            <a:off x="552378" y="20726344"/>
            <a:ext cx="2470168" cy="222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675" kern="0" spc="101" dirty="0">
                <a:solidFill>
                  <a:srgbClr val="1A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UNTERRICHTSMATERIAL · MEDIENBILDUNG · SEK I / II</a:t>
            </a:r>
            <a:endParaRPr lang="en-US" sz="675" dirty="0"/>
          </a:p>
        </p:txBody>
      </p:sp>
      <p:sp>
        <p:nvSpPr>
          <p:cNvPr id="111" name="Text 100"/>
          <p:cNvSpPr/>
          <p:nvPr/>
        </p:nvSpPr>
        <p:spPr>
          <a:xfrm>
            <a:off x="3098746" y="20726344"/>
            <a:ext cx="1917700" cy="222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675" kern="0" spc="101" dirty="0">
                <a:solidFill>
                  <a:srgbClr val="8A7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AUSGABE 04 · APRIL 2026</a:t>
            </a:r>
            <a:endParaRPr lang="en-US" sz="675" dirty="0"/>
          </a:p>
        </p:txBody>
      </p:sp>
      <p:sp>
        <p:nvSpPr>
          <p:cNvPr id="112" name="Text 101"/>
          <p:cNvSpPr/>
          <p:nvPr/>
        </p:nvSpPr>
        <p:spPr>
          <a:xfrm>
            <a:off x="5092645" y="20726344"/>
            <a:ext cx="1917700" cy="222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675" kern="0" spc="101" dirty="0">
                <a:solidFill>
                  <a:srgbClr val="8A7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SEITE 01 / 01</a:t>
            </a:r>
            <a:endParaRPr lang="en-US" sz="6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C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352E93-F4AC-5272-023E-D895A67AC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E0E2B76-7DD0-A1EC-3C98-57A313A7533F}"/>
              </a:ext>
            </a:extLst>
          </p:cNvPr>
          <p:cNvSpPr/>
          <p:nvPr/>
        </p:nvSpPr>
        <p:spPr>
          <a:xfrm>
            <a:off x="0" y="0"/>
            <a:ext cx="7562813" cy="21368200"/>
          </a:xfrm>
          <a:prstGeom prst="rect">
            <a:avLst/>
          </a:prstGeom>
          <a:ln/>
          <a:effectLst>
            <a:outerShdw blurRad="762000" dist="381000" dir="54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B013ADC-CAB2-13FD-69E6-76F3948DA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14" y="133314"/>
            <a:ext cx="171378" cy="171378"/>
          </a:xfrm>
          <a:prstGeom prst="rect">
            <a:avLst/>
          </a:prstGeom>
        </p:spPr>
      </p:pic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BF5384C6-F876-8EE2-A592-43851D949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122" y="133314"/>
            <a:ext cx="171378" cy="171378"/>
          </a:xfrm>
          <a:prstGeom prst="rect">
            <a:avLst/>
          </a:prstGeom>
        </p:spPr>
      </p:pic>
      <p:pic>
        <p:nvPicPr>
          <p:cNvPr id="5" name="Image 2" descr="preencoded.png">
            <a:extLst>
              <a:ext uri="{FF2B5EF4-FFF2-40B4-BE49-F238E27FC236}">
                <a16:creationId xmlns:a16="http://schemas.microsoft.com/office/drawing/2014/main" id="{6C1D6B6A-AAFE-81EA-DAAA-D3F72CEDC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20" y="11082551"/>
            <a:ext cx="171378" cy="171378"/>
          </a:xfrm>
          <a:prstGeom prst="rect">
            <a:avLst/>
          </a:prstGeom>
        </p:spPr>
      </p:pic>
      <p:pic>
        <p:nvPicPr>
          <p:cNvPr id="6" name="Image 3" descr="preencoded.png">
            <a:extLst>
              <a:ext uri="{FF2B5EF4-FFF2-40B4-BE49-F238E27FC236}">
                <a16:creationId xmlns:a16="http://schemas.microsoft.com/office/drawing/2014/main" id="{7733CB8C-B98A-37C3-58F8-6F93A87F2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828" y="11082551"/>
            <a:ext cx="171378" cy="171378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56ACA9F6-FB86-5A64-B235-81155A6ACB74}"/>
              </a:ext>
            </a:extLst>
          </p:cNvPr>
          <p:cNvSpPr/>
          <p:nvPr/>
        </p:nvSpPr>
        <p:spPr>
          <a:xfrm>
            <a:off x="5723930" y="209532"/>
            <a:ext cx="1496020" cy="130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675" kern="0" spc="81" dirty="0">
                <a:solidFill>
                  <a:srgbClr val="1A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LH 02 / P 02 — FOLIO 01</a:t>
            </a:r>
            <a:endParaRPr lang="en-US" sz="675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BE69C985-B8AD-8DCF-0E03-087185958866}"/>
              </a:ext>
            </a:extLst>
          </p:cNvPr>
          <p:cNvSpPr/>
          <p:nvPr/>
        </p:nvSpPr>
        <p:spPr>
          <a:xfrm>
            <a:off x="552378" y="523424"/>
            <a:ext cx="85689" cy="85689"/>
          </a:xfrm>
          <a:prstGeom prst="ellipse">
            <a:avLst/>
          </a:prstGeom>
          <a:solidFill>
            <a:srgbClr val="B23A2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7978D102-9DE2-BE29-63F7-DE6EB963E813}"/>
              </a:ext>
            </a:extLst>
          </p:cNvPr>
          <p:cNvSpPr/>
          <p:nvPr/>
        </p:nvSpPr>
        <p:spPr>
          <a:xfrm>
            <a:off x="733317" y="514314"/>
            <a:ext cx="923077" cy="142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13" kern="0" spc="128" dirty="0">
                <a:solidFill>
                  <a:srgbClr val="1A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DURCHBLICKT!</a:t>
            </a:r>
            <a:endParaRPr lang="en-US" sz="713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80182969-E964-5BDA-A35A-D561AD54CDFD}"/>
              </a:ext>
            </a:extLst>
          </p:cNvPr>
          <p:cNvSpPr/>
          <p:nvPr/>
        </p:nvSpPr>
        <p:spPr>
          <a:xfrm>
            <a:off x="1675444" y="514314"/>
            <a:ext cx="146826" cy="142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13" kern="0" spc="128" dirty="0">
                <a:solidFill>
                  <a:srgbClr val="8A7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713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00A3FC3B-11E3-E91A-39FB-EB6C53EB095B}"/>
              </a:ext>
            </a:extLst>
          </p:cNvPr>
          <p:cNvSpPr/>
          <p:nvPr/>
        </p:nvSpPr>
        <p:spPr>
          <a:xfrm>
            <a:off x="1841319" y="514314"/>
            <a:ext cx="358522" cy="142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13" kern="0" spc="128" dirty="0">
                <a:solidFill>
                  <a:srgbClr val="1A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LH 2</a:t>
            </a:r>
            <a:endParaRPr lang="en-US" sz="713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A41EAECA-5312-8744-14DA-734F62DBE6B7}"/>
              </a:ext>
            </a:extLst>
          </p:cNvPr>
          <p:cNvSpPr/>
          <p:nvPr/>
        </p:nvSpPr>
        <p:spPr>
          <a:xfrm>
            <a:off x="2218892" y="514314"/>
            <a:ext cx="146826" cy="142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13" kern="0" spc="128" dirty="0">
                <a:solidFill>
                  <a:srgbClr val="8A7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713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0BF829BF-737A-3C7D-78A4-8FC9E25CB188}"/>
              </a:ext>
            </a:extLst>
          </p:cNvPr>
          <p:cNvSpPr/>
          <p:nvPr/>
        </p:nvSpPr>
        <p:spPr>
          <a:xfrm>
            <a:off x="2384768" y="514314"/>
            <a:ext cx="1558257" cy="142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13" kern="0" spc="128" dirty="0">
                <a:solidFill>
                  <a:srgbClr val="1A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 — ERARBEITUNG</a:t>
            </a:r>
            <a:endParaRPr lang="en-US" sz="713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99C60050-AF27-0B00-C256-224DD087657B}"/>
              </a:ext>
            </a:extLst>
          </p:cNvPr>
          <p:cNvSpPr/>
          <p:nvPr/>
        </p:nvSpPr>
        <p:spPr>
          <a:xfrm>
            <a:off x="6022397" y="514314"/>
            <a:ext cx="1064238" cy="142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13" kern="0" spc="128" dirty="0">
                <a:solidFill>
                  <a:srgbClr val="8A7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EDITORIAL · A4</a:t>
            </a:r>
            <a:endParaRPr lang="en-US" sz="713" dirty="0"/>
          </a:p>
        </p:txBody>
      </p:sp>
      <p:sp>
        <p:nvSpPr>
          <p:cNvPr id="59" name="Shape 51">
            <a:extLst>
              <a:ext uri="{FF2B5EF4-FFF2-40B4-BE49-F238E27FC236}">
                <a16:creationId xmlns:a16="http://schemas.microsoft.com/office/drawing/2014/main" id="{B5CDBC2F-722E-A70D-D402-F81508A48886}"/>
              </a:ext>
            </a:extLst>
          </p:cNvPr>
          <p:cNvSpPr/>
          <p:nvPr/>
        </p:nvSpPr>
        <p:spPr>
          <a:xfrm>
            <a:off x="552378" y="3926320"/>
            <a:ext cx="6458058" cy="9525"/>
          </a:xfrm>
          <a:prstGeom prst="rect">
            <a:avLst/>
          </a:prstGeom>
          <a:solidFill>
            <a:srgbClr val="1A161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0" name="Text 52">
            <a:extLst>
              <a:ext uri="{FF2B5EF4-FFF2-40B4-BE49-F238E27FC236}">
                <a16:creationId xmlns:a16="http://schemas.microsoft.com/office/drawing/2014/main" id="{52A34D62-8C0C-C05C-9EA4-6CC355E6C0A1}"/>
              </a:ext>
            </a:extLst>
          </p:cNvPr>
          <p:cNvSpPr/>
          <p:nvPr/>
        </p:nvSpPr>
        <p:spPr>
          <a:xfrm>
            <a:off x="552378" y="1254088"/>
            <a:ext cx="1239765" cy="1331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6600" b="1" i="1" kern="0" spc="-330" dirty="0">
                <a:solidFill>
                  <a:srgbClr val="C98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6600" dirty="0"/>
          </a:p>
        </p:txBody>
      </p:sp>
      <p:sp>
        <p:nvSpPr>
          <p:cNvPr id="61" name="Text 53">
            <a:extLst>
              <a:ext uri="{FF2B5EF4-FFF2-40B4-BE49-F238E27FC236}">
                <a16:creationId xmlns:a16="http://schemas.microsoft.com/office/drawing/2014/main" id="{A116AD99-7E51-8F21-8A66-A38A082ABFDB}"/>
              </a:ext>
            </a:extLst>
          </p:cNvPr>
          <p:cNvSpPr/>
          <p:nvPr/>
        </p:nvSpPr>
        <p:spPr>
          <a:xfrm>
            <a:off x="571410" y="2093425"/>
            <a:ext cx="1104918" cy="127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25" kern="0" spc="99" dirty="0">
                <a:solidFill>
                  <a:srgbClr val="1A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Posts</a:t>
            </a:r>
            <a:endParaRPr lang="en-US" sz="825" dirty="0"/>
          </a:p>
        </p:txBody>
      </p:sp>
      <p:sp>
        <p:nvSpPr>
          <p:cNvPr id="62" name="Text 54">
            <a:extLst>
              <a:ext uri="{FF2B5EF4-FFF2-40B4-BE49-F238E27FC236}">
                <a16:creationId xmlns:a16="http://schemas.microsoft.com/office/drawing/2014/main" id="{05FB7D04-03EF-A51E-CC3A-285F0B715A71}"/>
              </a:ext>
            </a:extLst>
          </p:cNvPr>
          <p:cNvSpPr/>
          <p:nvPr/>
        </p:nvSpPr>
        <p:spPr>
          <a:xfrm>
            <a:off x="1809660" y="1513230"/>
            <a:ext cx="3375047" cy="138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kern="0" spc="135" dirty="0">
                <a:solidFill>
                  <a:srgbClr val="8A7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BAUSTEIN III · DAS ARCHIV</a:t>
            </a:r>
            <a:endParaRPr lang="en-US" sz="750" dirty="0"/>
          </a:p>
        </p:txBody>
      </p:sp>
      <p:sp>
        <p:nvSpPr>
          <p:cNvPr id="63" name="Text 55">
            <a:extLst>
              <a:ext uri="{FF2B5EF4-FFF2-40B4-BE49-F238E27FC236}">
                <a16:creationId xmlns:a16="http://schemas.microsoft.com/office/drawing/2014/main" id="{12BA970B-55DB-709B-41AC-55044A5B5957}"/>
              </a:ext>
            </a:extLst>
          </p:cNvPr>
          <p:cNvSpPr/>
          <p:nvPr/>
        </p:nvSpPr>
        <p:spPr>
          <a:xfrm>
            <a:off x="1809660" y="1647175"/>
            <a:ext cx="3298307" cy="86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50" b="1" kern="0" spc="-29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 Raster aus Entscheidungen, das nach uns spricht.</a:t>
            </a:r>
            <a:endParaRPr lang="en-US" sz="1950" dirty="0"/>
          </a:p>
        </p:txBody>
      </p:sp>
      <p:sp>
        <p:nvSpPr>
          <p:cNvPr id="64" name="Text 56">
            <a:extLst>
              <a:ext uri="{FF2B5EF4-FFF2-40B4-BE49-F238E27FC236}">
                <a16:creationId xmlns:a16="http://schemas.microsoft.com/office/drawing/2014/main" id="{2110BDC6-1BF2-A583-4CD5-6C4EFCBD3ED9}"/>
              </a:ext>
            </a:extLst>
          </p:cNvPr>
          <p:cNvSpPr/>
          <p:nvPr/>
        </p:nvSpPr>
        <p:spPr>
          <a:xfrm>
            <a:off x="1809660" y="2545646"/>
            <a:ext cx="3375047" cy="5308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63" dirty="0">
                <a:solidFill>
                  <a:srgbClr val="3A3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Einzelne Posts sind Punkte, das Grid ist die Linie. Welche Muster bildet das Feed-Quadrat, wenn wir drei Monate zurücktreten? Jede Geste wird Teil einer stillen Erzählung.</a:t>
            </a:r>
            <a:endParaRPr lang="en-US" sz="863" dirty="0"/>
          </a:p>
        </p:txBody>
      </p:sp>
      <p:sp>
        <p:nvSpPr>
          <p:cNvPr id="65" name="Shape 57">
            <a:extLst>
              <a:ext uri="{FF2B5EF4-FFF2-40B4-BE49-F238E27FC236}">
                <a16:creationId xmlns:a16="http://schemas.microsoft.com/office/drawing/2014/main" id="{C07D6B6F-A259-411B-4822-BE8E09B6D1AD}"/>
              </a:ext>
            </a:extLst>
          </p:cNvPr>
          <p:cNvSpPr/>
          <p:nvPr/>
        </p:nvSpPr>
        <p:spPr>
          <a:xfrm>
            <a:off x="1809660" y="3133652"/>
            <a:ext cx="17318" cy="583136"/>
          </a:xfrm>
          <a:prstGeom prst="rect">
            <a:avLst/>
          </a:prstGeom>
          <a:solidFill>
            <a:srgbClr val="C98F2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6" name="Text 58">
            <a:extLst>
              <a:ext uri="{FF2B5EF4-FFF2-40B4-BE49-F238E27FC236}">
                <a16:creationId xmlns:a16="http://schemas.microsoft.com/office/drawing/2014/main" id="{2F9FE874-DD0F-8D8E-F448-BEF66073C615}"/>
              </a:ext>
            </a:extLst>
          </p:cNvPr>
          <p:cNvSpPr/>
          <p:nvPr/>
        </p:nvSpPr>
        <p:spPr>
          <a:xfrm>
            <a:off x="1941260" y="3190748"/>
            <a:ext cx="3200107" cy="153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675" b="1" kern="0" spc="122" dirty="0">
                <a:solidFill>
                  <a:srgbClr val="C98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DIE ENTSCHEIDUNG</a:t>
            </a:r>
            <a:endParaRPr lang="en-US" sz="675" dirty="0"/>
          </a:p>
        </p:txBody>
      </p:sp>
      <p:sp>
        <p:nvSpPr>
          <p:cNvPr id="67" name="Text 59">
            <a:extLst>
              <a:ext uri="{FF2B5EF4-FFF2-40B4-BE49-F238E27FC236}">
                <a16:creationId xmlns:a16="http://schemas.microsoft.com/office/drawing/2014/main" id="{AA5684C1-5CAF-A6D2-D4E5-CAA85D87C62E}"/>
              </a:ext>
            </a:extLst>
          </p:cNvPr>
          <p:cNvSpPr/>
          <p:nvPr/>
        </p:nvSpPr>
        <p:spPr>
          <a:xfrm>
            <a:off x="1941260" y="3331188"/>
            <a:ext cx="1832462" cy="188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i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darf bleiben — und wann ist</a:t>
            </a:r>
            <a:endParaRPr lang="en-US" sz="975" dirty="0"/>
          </a:p>
        </p:txBody>
      </p:sp>
      <p:sp>
        <p:nvSpPr>
          <p:cNvPr id="68" name="Text 60">
            <a:extLst>
              <a:ext uri="{FF2B5EF4-FFF2-40B4-BE49-F238E27FC236}">
                <a16:creationId xmlns:a16="http://schemas.microsoft.com/office/drawing/2014/main" id="{5CD5433A-C0C0-7D7A-DA08-B9210D8B457A}"/>
              </a:ext>
            </a:extLst>
          </p:cNvPr>
          <p:cNvSpPr/>
          <p:nvPr/>
        </p:nvSpPr>
        <p:spPr>
          <a:xfrm>
            <a:off x="3721966" y="3331188"/>
            <a:ext cx="718506" cy="188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i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Archivieren</a:t>
            </a:r>
            <a:endParaRPr lang="en-US" sz="975" dirty="0"/>
          </a:p>
        </p:txBody>
      </p:sp>
      <p:sp>
        <p:nvSpPr>
          <p:cNvPr id="69" name="Text 61">
            <a:extLst>
              <a:ext uri="{FF2B5EF4-FFF2-40B4-BE49-F238E27FC236}">
                <a16:creationId xmlns:a16="http://schemas.microsoft.com/office/drawing/2014/main" id="{EB834D23-F347-2327-F329-2080D2397180}"/>
              </a:ext>
            </a:extLst>
          </p:cNvPr>
          <p:cNvSpPr/>
          <p:nvPr/>
        </p:nvSpPr>
        <p:spPr>
          <a:xfrm>
            <a:off x="1983023" y="3524971"/>
            <a:ext cx="3128756" cy="355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i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 Akt der Selbstsorge?</a:t>
            </a:r>
            <a:endParaRPr lang="en-US" sz="975" dirty="0"/>
          </a:p>
        </p:txBody>
      </p:sp>
      <p:sp>
        <p:nvSpPr>
          <p:cNvPr id="70" name="Shape 62">
            <a:extLst>
              <a:ext uri="{FF2B5EF4-FFF2-40B4-BE49-F238E27FC236}">
                <a16:creationId xmlns:a16="http://schemas.microsoft.com/office/drawing/2014/main" id="{E24BF232-E1D9-C2CB-BF32-F6893EBFDE4D}"/>
              </a:ext>
            </a:extLst>
          </p:cNvPr>
          <p:cNvSpPr/>
          <p:nvPr/>
        </p:nvSpPr>
        <p:spPr>
          <a:xfrm>
            <a:off x="5295936" y="1513230"/>
            <a:ext cx="1714500" cy="1714500"/>
          </a:xfrm>
          <a:prstGeom prst="rect">
            <a:avLst/>
          </a:prstGeom>
          <a:solidFill>
            <a:srgbClr val="E8DFC9"/>
          </a:solidFill>
          <a:ln w="5773">
            <a:solidFill>
              <a:srgbClr val="1A1612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1" name="Text 63">
            <a:extLst>
              <a:ext uri="{FF2B5EF4-FFF2-40B4-BE49-F238E27FC236}">
                <a16:creationId xmlns:a16="http://schemas.microsoft.com/office/drawing/2014/main" id="{5C3DCE95-5ADD-DC00-C2D7-CAE846E75339}"/>
              </a:ext>
            </a:extLst>
          </p:cNvPr>
          <p:cNvSpPr/>
          <p:nvPr/>
        </p:nvSpPr>
        <p:spPr>
          <a:xfrm>
            <a:off x="6597595" y="1566628"/>
            <a:ext cx="426172" cy="118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563" kern="0" spc="56" dirty="0">
                <a:solidFill>
                  <a:srgbClr val="1A1612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FIG. 03</a:t>
            </a:r>
            <a:endParaRPr lang="en-US" sz="563" dirty="0"/>
          </a:p>
        </p:txBody>
      </p:sp>
      <p:pic>
        <p:nvPicPr>
          <p:cNvPr id="72" name="Image 6" descr="preencoded.png">
            <a:extLst>
              <a:ext uri="{FF2B5EF4-FFF2-40B4-BE49-F238E27FC236}">
                <a16:creationId xmlns:a16="http://schemas.microsoft.com/office/drawing/2014/main" id="{8A6C73B2-7EE3-6548-A56F-1CC7B56437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1708" y="1519003"/>
            <a:ext cx="1702954" cy="1702954"/>
          </a:xfrm>
          <a:prstGeom prst="rect">
            <a:avLst/>
          </a:prstGeom>
        </p:spPr>
      </p:pic>
      <p:sp>
        <p:nvSpPr>
          <p:cNvPr id="73" name="Text 64">
            <a:extLst>
              <a:ext uri="{FF2B5EF4-FFF2-40B4-BE49-F238E27FC236}">
                <a16:creationId xmlns:a16="http://schemas.microsoft.com/office/drawing/2014/main" id="{58CBC01F-B075-5BCA-02C9-C43EAD614F17}"/>
              </a:ext>
            </a:extLst>
          </p:cNvPr>
          <p:cNvSpPr/>
          <p:nvPr/>
        </p:nvSpPr>
        <p:spPr>
          <a:xfrm>
            <a:off x="5358804" y="3103074"/>
            <a:ext cx="1522539" cy="118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563" kern="0" spc="84" dirty="0">
                <a:solidFill>
                  <a:srgbClr val="1A1612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 · 3×3 · FEED CONTINUES</a:t>
            </a:r>
            <a:endParaRPr lang="en-US" sz="563" dirty="0"/>
          </a:p>
        </p:txBody>
      </p:sp>
      <p:sp>
        <p:nvSpPr>
          <p:cNvPr id="74" name="Shape 65">
            <a:extLst>
              <a:ext uri="{FF2B5EF4-FFF2-40B4-BE49-F238E27FC236}">
                <a16:creationId xmlns:a16="http://schemas.microsoft.com/office/drawing/2014/main" id="{BE367438-9261-8E7A-3D1C-9983F88FC0E8}"/>
              </a:ext>
            </a:extLst>
          </p:cNvPr>
          <p:cNvSpPr/>
          <p:nvPr/>
        </p:nvSpPr>
        <p:spPr>
          <a:xfrm>
            <a:off x="552378" y="6294671"/>
            <a:ext cx="6458058" cy="9525"/>
          </a:xfrm>
          <a:prstGeom prst="rect">
            <a:avLst/>
          </a:prstGeom>
          <a:solidFill>
            <a:srgbClr val="1A161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5" name="Text 66">
            <a:extLst>
              <a:ext uri="{FF2B5EF4-FFF2-40B4-BE49-F238E27FC236}">
                <a16:creationId xmlns:a16="http://schemas.microsoft.com/office/drawing/2014/main" id="{42958102-8605-FF50-E535-E5ECB2CCB5AE}"/>
              </a:ext>
            </a:extLst>
          </p:cNvPr>
          <p:cNvSpPr/>
          <p:nvPr/>
        </p:nvSpPr>
        <p:spPr>
          <a:xfrm>
            <a:off x="552378" y="3882483"/>
            <a:ext cx="1272778" cy="1331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6600" b="1" i="1" kern="0" spc="-330" dirty="0">
                <a:solidFill>
                  <a:srgbClr val="4A6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6600" dirty="0"/>
          </a:p>
        </p:txBody>
      </p:sp>
      <p:sp>
        <p:nvSpPr>
          <p:cNvPr id="76" name="Text 67">
            <a:extLst>
              <a:ext uri="{FF2B5EF4-FFF2-40B4-BE49-F238E27FC236}">
                <a16:creationId xmlns:a16="http://schemas.microsoft.com/office/drawing/2014/main" id="{B89C729D-0B2F-D6DF-D5FD-D5CA368D4E1D}"/>
              </a:ext>
            </a:extLst>
          </p:cNvPr>
          <p:cNvSpPr/>
          <p:nvPr/>
        </p:nvSpPr>
        <p:spPr>
          <a:xfrm>
            <a:off x="528665" y="4663514"/>
            <a:ext cx="1220192" cy="216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25" kern="0" spc="99" dirty="0">
                <a:solidFill>
                  <a:srgbClr val="1A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Interaktionen</a:t>
            </a:r>
            <a:endParaRPr lang="en-US" sz="825" dirty="0"/>
          </a:p>
        </p:txBody>
      </p:sp>
      <p:sp>
        <p:nvSpPr>
          <p:cNvPr id="77" name="Text 68">
            <a:extLst>
              <a:ext uri="{FF2B5EF4-FFF2-40B4-BE49-F238E27FC236}">
                <a16:creationId xmlns:a16="http://schemas.microsoft.com/office/drawing/2014/main" id="{F17FDF17-20EB-F047-0328-845BB0DF905B}"/>
              </a:ext>
            </a:extLst>
          </p:cNvPr>
          <p:cNvSpPr/>
          <p:nvPr/>
        </p:nvSpPr>
        <p:spPr>
          <a:xfrm>
            <a:off x="1809660" y="4141624"/>
            <a:ext cx="3375047" cy="138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kern="0" spc="135" dirty="0">
                <a:solidFill>
                  <a:srgbClr val="8A7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BAUSTEIN IV · DIE RESONANZ</a:t>
            </a:r>
            <a:endParaRPr lang="en-US" sz="750" dirty="0"/>
          </a:p>
        </p:txBody>
      </p:sp>
      <p:sp>
        <p:nvSpPr>
          <p:cNvPr id="78" name="Text 69">
            <a:extLst>
              <a:ext uri="{FF2B5EF4-FFF2-40B4-BE49-F238E27FC236}">
                <a16:creationId xmlns:a16="http://schemas.microsoft.com/office/drawing/2014/main" id="{74FE19DD-D60D-0AA6-6B63-120F5C4893E2}"/>
              </a:ext>
            </a:extLst>
          </p:cNvPr>
          <p:cNvSpPr/>
          <p:nvPr/>
        </p:nvSpPr>
        <p:spPr>
          <a:xfrm>
            <a:off x="1809660" y="4275569"/>
            <a:ext cx="2801081" cy="604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50" b="1" kern="0" spc="-29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Das, was aus anderen zurückkommt, formt mit.</a:t>
            </a:r>
            <a:endParaRPr lang="en-US" sz="1950" dirty="0"/>
          </a:p>
        </p:txBody>
      </p:sp>
      <p:sp>
        <p:nvSpPr>
          <p:cNvPr id="79" name="Text 70">
            <a:extLst>
              <a:ext uri="{FF2B5EF4-FFF2-40B4-BE49-F238E27FC236}">
                <a16:creationId xmlns:a16="http://schemas.microsoft.com/office/drawing/2014/main" id="{84AA8E08-C617-63F1-0830-F72533A9D7A3}"/>
              </a:ext>
            </a:extLst>
          </p:cNvPr>
          <p:cNvSpPr/>
          <p:nvPr/>
        </p:nvSpPr>
        <p:spPr>
          <a:xfrm>
            <a:off x="1809660" y="4913998"/>
            <a:ext cx="3375047" cy="5308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63" dirty="0">
                <a:solidFill>
                  <a:srgbClr val="3A3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Likes, Antworten, Shares, stille Screenshots — jede Reaktion ist ein kleiner Spiegel. Zusammen­genommen verändern sie, wie wir uns selbst in Szene setzen. Oft unbemerkt.</a:t>
            </a:r>
            <a:endParaRPr lang="en-US" sz="863" dirty="0"/>
          </a:p>
        </p:txBody>
      </p:sp>
      <p:sp>
        <p:nvSpPr>
          <p:cNvPr id="80" name="Shape 71">
            <a:extLst>
              <a:ext uri="{FF2B5EF4-FFF2-40B4-BE49-F238E27FC236}">
                <a16:creationId xmlns:a16="http://schemas.microsoft.com/office/drawing/2014/main" id="{0E44597F-48A8-DB1D-470A-60AE938486C3}"/>
              </a:ext>
            </a:extLst>
          </p:cNvPr>
          <p:cNvSpPr/>
          <p:nvPr/>
        </p:nvSpPr>
        <p:spPr>
          <a:xfrm>
            <a:off x="1809660" y="5502004"/>
            <a:ext cx="17318" cy="583136"/>
          </a:xfrm>
          <a:prstGeom prst="rect">
            <a:avLst/>
          </a:prstGeom>
          <a:solidFill>
            <a:srgbClr val="4A6B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1" name="Text 72">
            <a:extLst>
              <a:ext uri="{FF2B5EF4-FFF2-40B4-BE49-F238E27FC236}">
                <a16:creationId xmlns:a16="http://schemas.microsoft.com/office/drawing/2014/main" id="{3C565803-FA74-70B1-5A61-88D9B7555A35}"/>
              </a:ext>
            </a:extLst>
          </p:cNvPr>
          <p:cNvSpPr/>
          <p:nvPr/>
        </p:nvSpPr>
        <p:spPr>
          <a:xfrm>
            <a:off x="1941260" y="5559099"/>
            <a:ext cx="3200107" cy="153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675" b="1" kern="0" spc="122" dirty="0">
                <a:solidFill>
                  <a:srgbClr val="4A6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DIE ENTSCHEIDUNG</a:t>
            </a:r>
            <a:endParaRPr lang="en-US" sz="675" dirty="0"/>
          </a:p>
        </p:txBody>
      </p:sp>
      <p:sp>
        <p:nvSpPr>
          <p:cNvPr id="82" name="Text 73">
            <a:extLst>
              <a:ext uri="{FF2B5EF4-FFF2-40B4-BE49-F238E27FC236}">
                <a16:creationId xmlns:a16="http://schemas.microsoft.com/office/drawing/2014/main" id="{D76DF6CC-41C8-302A-B64B-2FC11779158A}"/>
              </a:ext>
            </a:extLst>
          </p:cNvPr>
          <p:cNvSpPr/>
          <p:nvPr/>
        </p:nvSpPr>
        <p:spPr>
          <a:xfrm>
            <a:off x="1941260" y="5699539"/>
            <a:ext cx="1016974" cy="188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i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Welche Resonanz</a:t>
            </a:r>
            <a:endParaRPr lang="en-US" sz="975" dirty="0"/>
          </a:p>
        </p:txBody>
      </p:sp>
      <p:sp>
        <p:nvSpPr>
          <p:cNvPr id="83" name="Text 74">
            <a:extLst>
              <a:ext uri="{FF2B5EF4-FFF2-40B4-BE49-F238E27FC236}">
                <a16:creationId xmlns:a16="http://schemas.microsoft.com/office/drawing/2014/main" id="{66130625-1739-9515-7E89-4082425E8118}"/>
              </a:ext>
            </a:extLst>
          </p:cNvPr>
          <p:cNvSpPr/>
          <p:nvPr/>
        </p:nvSpPr>
        <p:spPr>
          <a:xfrm>
            <a:off x="2906478" y="5699539"/>
            <a:ext cx="381523" cy="188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i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suche</a:t>
            </a:r>
            <a:endParaRPr lang="en-US" sz="975" dirty="0"/>
          </a:p>
        </p:txBody>
      </p:sp>
      <p:sp>
        <p:nvSpPr>
          <p:cNvPr id="84" name="Text 75">
            <a:extLst>
              <a:ext uri="{FF2B5EF4-FFF2-40B4-BE49-F238E27FC236}">
                <a16:creationId xmlns:a16="http://schemas.microsoft.com/office/drawing/2014/main" id="{3ED57ED0-854C-AA5A-287E-FBD6BA795A16}"/>
              </a:ext>
            </a:extLst>
          </p:cNvPr>
          <p:cNvSpPr/>
          <p:nvPr/>
        </p:nvSpPr>
        <p:spPr>
          <a:xfrm>
            <a:off x="2224938" y="5828326"/>
            <a:ext cx="3133866" cy="355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i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ich — und welche nehme ich nur, wenn sie zufällig vorbeikommt?</a:t>
            </a:r>
            <a:endParaRPr lang="en-US" sz="975" dirty="0"/>
          </a:p>
        </p:txBody>
      </p:sp>
      <p:sp>
        <p:nvSpPr>
          <p:cNvPr id="85" name="Shape 76">
            <a:extLst>
              <a:ext uri="{FF2B5EF4-FFF2-40B4-BE49-F238E27FC236}">
                <a16:creationId xmlns:a16="http://schemas.microsoft.com/office/drawing/2014/main" id="{5B635F28-B1FC-3120-298A-B8E9CA1A0C0B}"/>
              </a:ext>
            </a:extLst>
          </p:cNvPr>
          <p:cNvSpPr/>
          <p:nvPr/>
        </p:nvSpPr>
        <p:spPr>
          <a:xfrm>
            <a:off x="5295936" y="4141624"/>
            <a:ext cx="1714500" cy="1714500"/>
          </a:xfrm>
          <a:prstGeom prst="rect">
            <a:avLst/>
          </a:prstGeom>
          <a:solidFill>
            <a:srgbClr val="E8DFC9"/>
          </a:solidFill>
          <a:ln w="5773">
            <a:solidFill>
              <a:srgbClr val="1A1612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6" name="Text 77">
            <a:extLst>
              <a:ext uri="{FF2B5EF4-FFF2-40B4-BE49-F238E27FC236}">
                <a16:creationId xmlns:a16="http://schemas.microsoft.com/office/drawing/2014/main" id="{8718F52F-0798-7193-5008-B929E12F3CD7}"/>
              </a:ext>
            </a:extLst>
          </p:cNvPr>
          <p:cNvSpPr/>
          <p:nvPr/>
        </p:nvSpPr>
        <p:spPr>
          <a:xfrm>
            <a:off x="6597595" y="4195022"/>
            <a:ext cx="426172" cy="118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563" kern="0" spc="56" dirty="0">
                <a:solidFill>
                  <a:srgbClr val="1A1612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FIG. 04</a:t>
            </a:r>
            <a:endParaRPr lang="en-US" sz="563" dirty="0"/>
          </a:p>
        </p:txBody>
      </p:sp>
      <p:pic>
        <p:nvPicPr>
          <p:cNvPr id="87" name="Image 7" descr="preencoded.png">
            <a:extLst>
              <a:ext uri="{FF2B5EF4-FFF2-40B4-BE49-F238E27FC236}">
                <a16:creationId xmlns:a16="http://schemas.microsoft.com/office/drawing/2014/main" id="{C1831C11-F860-1D5C-39F3-8400CCEEF6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1708" y="4147397"/>
            <a:ext cx="1702954" cy="1702954"/>
          </a:xfrm>
          <a:prstGeom prst="rect">
            <a:avLst/>
          </a:prstGeom>
        </p:spPr>
      </p:pic>
      <p:sp>
        <p:nvSpPr>
          <p:cNvPr id="88" name="Text 78">
            <a:extLst>
              <a:ext uri="{FF2B5EF4-FFF2-40B4-BE49-F238E27FC236}">
                <a16:creationId xmlns:a16="http://schemas.microsoft.com/office/drawing/2014/main" id="{949F0F4C-5AFA-BE02-0DE4-C23F6273A913}"/>
              </a:ext>
            </a:extLst>
          </p:cNvPr>
          <p:cNvSpPr/>
          <p:nvPr/>
        </p:nvSpPr>
        <p:spPr>
          <a:xfrm>
            <a:off x="5358804" y="5731470"/>
            <a:ext cx="772625" cy="118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563" kern="0" spc="84" dirty="0">
                <a:solidFill>
                  <a:srgbClr val="1A1612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RESONANZ · 7D</a:t>
            </a:r>
            <a:endParaRPr lang="en-US" sz="563" dirty="0"/>
          </a:p>
        </p:txBody>
      </p:sp>
      <p:sp>
        <p:nvSpPr>
          <p:cNvPr id="89" name="Shape 79">
            <a:extLst>
              <a:ext uri="{FF2B5EF4-FFF2-40B4-BE49-F238E27FC236}">
                <a16:creationId xmlns:a16="http://schemas.microsoft.com/office/drawing/2014/main" id="{D2BE5450-8CD1-227D-B8FB-C769D2FF887D}"/>
              </a:ext>
            </a:extLst>
          </p:cNvPr>
          <p:cNvSpPr/>
          <p:nvPr/>
        </p:nvSpPr>
        <p:spPr>
          <a:xfrm>
            <a:off x="552378" y="8663022"/>
            <a:ext cx="6458058" cy="9525"/>
          </a:xfrm>
          <a:prstGeom prst="rect">
            <a:avLst/>
          </a:prstGeom>
          <a:solidFill>
            <a:srgbClr val="1A161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0" name="Text 80">
            <a:extLst>
              <a:ext uri="{FF2B5EF4-FFF2-40B4-BE49-F238E27FC236}">
                <a16:creationId xmlns:a16="http://schemas.microsoft.com/office/drawing/2014/main" id="{268485DA-BA70-3E78-229F-88D01B7F1F06}"/>
              </a:ext>
            </a:extLst>
          </p:cNvPr>
          <p:cNvSpPr/>
          <p:nvPr/>
        </p:nvSpPr>
        <p:spPr>
          <a:xfrm>
            <a:off x="552378" y="6250835"/>
            <a:ext cx="1246079" cy="1331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6600" b="1" i="1" kern="0" spc="-330" dirty="0">
                <a:solidFill>
                  <a:srgbClr val="6B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6600" dirty="0"/>
          </a:p>
        </p:txBody>
      </p:sp>
      <p:sp>
        <p:nvSpPr>
          <p:cNvPr id="91" name="Text 81">
            <a:extLst>
              <a:ext uri="{FF2B5EF4-FFF2-40B4-BE49-F238E27FC236}">
                <a16:creationId xmlns:a16="http://schemas.microsoft.com/office/drawing/2014/main" id="{ABB3B0CC-7DED-B969-D865-9E720DCF9678}"/>
              </a:ext>
            </a:extLst>
          </p:cNvPr>
          <p:cNvSpPr/>
          <p:nvPr/>
        </p:nvSpPr>
        <p:spPr>
          <a:xfrm>
            <a:off x="571410" y="7115396"/>
            <a:ext cx="1104918" cy="127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25" kern="0" spc="99" dirty="0">
                <a:solidFill>
                  <a:srgbClr val="1A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Netzwerk</a:t>
            </a:r>
            <a:endParaRPr lang="en-US" sz="825" dirty="0"/>
          </a:p>
        </p:txBody>
      </p:sp>
      <p:sp>
        <p:nvSpPr>
          <p:cNvPr id="92" name="Text 82">
            <a:extLst>
              <a:ext uri="{FF2B5EF4-FFF2-40B4-BE49-F238E27FC236}">
                <a16:creationId xmlns:a16="http://schemas.microsoft.com/office/drawing/2014/main" id="{E1B8F7D9-538F-61CC-AE8E-06F0FE19E627}"/>
              </a:ext>
            </a:extLst>
          </p:cNvPr>
          <p:cNvSpPr/>
          <p:nvPr/>
        </p:nvSpPr>
        <p:spPr>
          <a:xfrm>
            <a:off x="1809660" y="6509976"/>
            <a:ext cx="3375047" cy="138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kern="0" spc="135" dirty="0">
                <a:solidFill>
                  <a:srgbClr val="8A7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BAUSTEIN V · DER KONTEXT</a:t>
            </a:r>
            <a:endParaRPr lang="en-US" sz="750" dirty="0"/>
          </a:p>
        </p:txBody>
      </p:sp>
      <p:sp>
        <p:nvSpPr>
          <p:cNvPr id="93" name="Text 83">
            <a:extLst>
              <a:ext uri="{FF2B5EF4-FFF2-40B4-BE49-F238E27FC236}">
                <a16:creationId xmlns:a16="http://schemas.microsoft.com/office/drawing/2014/main" id="{A6A35C05-35AD-B332-8434-FC15577730B3}"/>
              </a:ext>
            </a:extLst>
          </p:cNvPr>
          <p:cNvSpPr/>
          <p:nvPr/>
        </p:nvSpPr>
        <p:spPr>
          <a:xfrm>
            <a:off x="1809660" y="6643921"/>
            <a:ext cx="2993022" cy="604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50" b="1" kern="0" spc="-29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Wir sind auch, mit wem wir verbunden sind.</a:t>
            </a:r>
            <a:endParaRPr lang="en-US" sz="1950" dirty="0"/>
          </a:p>
        </p:txBody>
      </p:sp>
      <p:sp>
        <p:nvSpPr>
          <p:cNvPr id="94" name="Text 84">
            <a:extLst>
              <a:ext uri="{FF2B5EF4-FFF2-40B4-BE49-F238E27FC236}">
                <a16:creationId xmlns:a16="http://schemas.microsoft.com/office/drawing/2014/main" id="{44CF18E1-C787-A6DE-C422-4D13F9593610}"/>
              </a:ext>
            </a:extLst>
          </p:cNvPr>
          <p:cNvSpPr/>
          <p:nvPr/>
        </p:nvSpPr>
        <p:spPr>
          <a:xfrm>
            <a:off x="1809660" y="7282348"/>
            <a:ext cx="3375047" cy="5308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63" dirty="0">
                <a:solidFill>
                  <a:srgbClr val="3A3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folgt wem, wer antwortet, wer teilt — das soziale Diagramm ist ein Mitteilungs­format, ohne dass je ein Wort fällt. Die Nachbar­schaft einer Identität ist Teil ihrer Aussage.</a:t>
            </a:r>
            <a:endParaRPr lang="en-US" sz="863" dirty="0"/>
          </a:p>
        </p:txBody>
      </p:sp>
      <p:sp>
        <p:nvSpPr>
          <p:cNvPr id="95" name="Shape 85">
            <a:extLst>
              <a:ext uri="{FF2B5EF4-FFF2-40B4-BE49-F238E27FC236}">
                <a16:creationId xmlns:a16="http://schemas.microsoft.com/office/drawing/2014/main" id="{BE8A4AA6-98D4-BD2E-57AB-D03AFD5B242F}"/>
              </a:ext>
            </a:extLst>
          </p:cNvPr>
          <p:cNvSpPr/>
          <p:nvPr/>
        </p:nvSpPr>
        <p:spPr>
          <a:xfrm>
            <a:off x="1809660" y="7870354"/>
            <a:ext cx="17318" cy="583136"/>
          </a:xfrm>
          <a:prstGeom prst="rect">
            <a:avLst/>
          </a:prstGeom>
          <a:solidFill>
            <a:srgbClr val="6B3A4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6" name="Text 86">
            <a:extLst>
              <a:ext uri="{FF2B5EF4-FFF2-40B4-BE49-F238E27FC236}">
                <a16:creationId xmlns:a16="http://schemas.microsoft.com/office/drawing/2014/main" id="{2C7E66CB-72D8-97F0-6A47-276FEC116945}"/>
              </a:ext>
            </a:extLst>
          </p:cNvPr>
          <p:cNvSpPr/>
          <p:nvPr/>
        </p:nvSpPr>
        <p:spPr>
          <a:xfrm>
            <a:off x="1941260" y="7927451"/>
            <a:ext cx="3200107" cy="153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675" b="1" kern="0" spc="122" dirty="0">
                <a:solidFill>
                  <a:srgbClr val="6B3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DIE ENTSCHEIDUNG</a:t>
            </a:r>
            <a:endParaRPr lang="en-US" sz="675" dirty="0"/>
          </a:p>
        </p:txBody>
      </p:sp>
      <p:sp>
        <p:nvSpPr>
          <p:cNvPr id="97" name="Text 87">
            <a:extLst>
              <a:ext uri="{FF2B5EF4-FFF2-40B4-BE49-F238E27FC236}">
                <a16:creationId xmlns:a16="http://schemas.microsoft.com/office/drawing/2014/main" id="{C16CAB0C-67B2-0E50-A3AE-1A5B33DB869D}"/>
              </a:ext>
            </a:extLst>
          </p:cNvPr>
          <p:cNvSpPr/>
          <p:nvPr/>
        </p:nvSpPr>
        <p:spPr>
          <a:xfrm>
            <a:off x="1941260" y="8067890"/>
            <a:ext cx="608283" cy="188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i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wessen</a:t>
            </a:r>
            <a:endParaRPr lang="en-US" sz="975" dirty="0"/>
          </a:p>
        </p:txBody>
      </p:sp>
      <p:sp>
        <p:nvSpPr>
          <p:cNvPr id="98" name="Text 88">
            <a:extLst>
              <a:ext uri="{FF2B5EF4-FFF2-40B4-BE49-F238E27FC236}">
                <a16:creationId xmlns:a16="http://schemas.microsoft.com/office/drawing/2014/main" id="{ED20B795-004D-C3D0-BA7C-FA2376DCF78D}"/>
              </a:ext>
            </a:extLst>
          </p:cNvPr>
          <p:cNvSpPr/>
          <p:nvPr/>
        </p:nvSpPr>
        <p:spPr>
          <a:xfrm>
            <a:off x="2497787" y="8067890"/>
            <a:ext cx="867695" cy="188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i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Nachbarschaft</a:t>
            </a:r>
            <a:endParaRPr lang="en-US" sz="975" dirty="0"/>
          </a:p>
        </p:txBody>
      </p:sp>
      <p:sp>
        <p:nvSpPr>
          <p:cNvPr id="99" name="Text 89">
            <a:extLst>
              <a:ext uri="{FF2B5EF4-FFF2-40B4-BE49-F238E27FC236}">
                <a16:creationId xmlns:a16="http://schemas.microsoft.com/office/drawing/2014/main" id="{7AD6708A-04F3-E415-C33B-9F32E1CAAC92}"/>
              </a:ext>
            </a:extLst>
          </p:cNvPr>
          <p:cNvSpPr/>
          <p:nvPr/>
        </p:nvSpPr>
        <p:spPr>
          <a:xfrm>
            <a:off x="2078015" y="8178982"/>
            <a:ext cx="2838335" cy="355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i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stelle ich mich — bewusst, beiläufig oder aus Gewohnheit?</a:t>
            </a:r>
            <a:endParaRPr lang="en-US" sz="975" dirty="0"/>
          </a:p>
        </p:txBody>
      </p:sp>
      <p:sp>
        <p:nvSpPr>
          <p:cNvPr id="100" name="Shape 90">
            <a:extLst>
              <a:ext uri="{FF2B5EF4-FFF2-40B4-BE49-F238E27FC236}">
                <a16:creationId xmlns:a16="http://schemas.microsoft.com/office/drawing/2014/main" id="{D866EAD9-8628-B837-14FC-268CD4108D7E}"/>
              </a:ext>
            </a:extLst>
          </p:cNvPr>
          <p:cNvSpPr/>
          <p:nvPr/>
        </p:nvSpPr>
        <p:spPr>
          <a:xfrm>
            <a:off x="5295936" y="6509976"/>
            <a:ext cx="1714500" cy="1714500"/>
          </a:xfrm>
          <a:prstGeom prst="rect">
            <a:avLst/>
          </a:prstGeom>
          <a:solidFill>
            <a:srgbClr val="E8DFC9"/>
          </a:solidFill>
          <a:ln w="5773">
            <a:solidFill>
              <a:srgbClr val="1A1612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1" name="Text 91">
            <a:extLst>
              <a:ext uri="{FF2B5EF4-FFF2-40B4-BE49-F238E27FC236}">
                <a16:creationId xmlns:a16="http://schemas.microsoft.com/office/drawing/2014/main" id="{41B09D20-FC70-7358-7C7F-E8127B00D78D}"/>
              </a:ext>
            </a:extLst>
          </p:cNvPr>
          <p:cNvSpPr/>
          <p:nvPr/>
        </p:nvSpPr>
        <p:spPr>
          <a:xfrm>
            <a:off x="6597595" y="6563374"/>
            <a:ext cx="426172" cy="118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563" kern="0" spc="56" dirty="0">
                <a:solidFill>
                  <a:srgbClr val="1A1612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FIG. 05</a:t>
            </a:r>
            <a:endParaRPr lang="en-US" sz="563" dirty="0"/>
          </a:p>
        </p:txBody>
      </p:sp>
      <p:pic>
        <p:nvPicPr>
          <p:cNvPr id="102" name="Image 8" descr="preencoded.png">
            <a:extLst>
              <a:ext uri="{FF2B5EF4-FFF2-40B4-BE49-F238E27FC236}">
                <a16:creationId xmlns:a16="http://schemas.microsoft.com/office/drawing/2014/main" id="{4B8A717E-276E-8BF3-870E-9223AC25C4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1708" y="6515749"/>
            <a:ext cx="1702954" cy="1702954"/>
          </a:xfrm>
          <a:prstGeom prst="rect">
            <a:avLst/>
          </a:prstGeom>
        </p:spPr>
      </p:pic>
      <p:sp>
        <p:nvSpPr>
          <p:cNvPr id="103" name="Text 92">
            <a:extLst>
              <a:ext uri="{FF2B5EF4-FFF2-40B4-BE49-F238E27FC236}">
                <a16:creationId xmlns:a16="http://schemas.microsoft.com/office/drawing/2014/main" id="{CF151564-2788-8A88-2E39-165A52C39A12}"/>
              </a:ext>
            </a:extLst>
          </p:cNvPr>
          <p:cNvSpPr/>
          <p:nvPr/>
        </p:nvSpPr>
        <p:spPr>
          <a:xfrm>
            <a:off x="5358804" y="8099821"/>
            <a:ext cx="1040426" cy="118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563" kern="0" spc="84" dirty="0">
                <a:solidFill>
                  <a:srgbClr val="1A1612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EGO-NET · DEGREE 1</a:t>
            </a:r>
            <a:endParaRPr lang="en-US" sz="563" dirty="0"/>
          </a:p>
        </p:txBody>
      </p:sp>
      <p:sp>
        <p:nvSpPr>
          <p:cNvPr id="104" name="Shape 93">
            <a:extLst>
              <a:ext uri="{FF2B5EF4-FFF2-40B4-BE49-F238E27FC236}">
                <a16:creationId xmlns:a16="http://schemas.microsoft.com/office/drawing/2014/main" id="{5EB5B743-C77F-54D6-15BA-00298847C078}"/>
              </a:ext>
            </a:extLst>
          </p:cNvPr>
          <p:cNvSpPr/>
          <p:nvPr/>
        </p:nvSpPr>
        <p:spPr>
          <a:xfrm>
            <a:off x="546084" y="8962066"/>
            <a:ext cx="6458058" cy="1510921"/>
          </a:xfrm>
          <a:prstGeom prst="rect">
            <a:avLst/>
          </a:prstGeom>
          <a:solidFill>
            <a:srgbClr val="1E1A1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5" name="Text 94">
            <a:extLst>
              <a:ext uri="{FF2B5EF4-FFF2-40B4-BE49-F238E27FC236}">
                <a16:creationId xmlns:a16="http://schemas.microsoft.com/office/drawing/2014/main" id="{7CA3150B-FDEA-109C-E673-AF7F11B174C7}"/>
              </a:ext>
            </a:extLst>
          </p:cNvPr>
          <p:cNvSpPr/>
          <p:nvPr/>
        </p:nvSpPr>
        <p:spPr>
          <a:xfrm>
            <a:off x="812712" y="9209661"/>
            <a:ext cx="1833815" cy="130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675" kern="0" spc="149" dirty="0">
                <a:solidFill>
                  <a:srgbClr val="C98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KERNBOTSCHAFT · PHASE 2</a:t>
            </a:r>
            <a:endParaRPr lang="en-US" sz="675" dirty="0"/>
          </a:p>
        </p:txBody>
      </p:sp>
      <p:sp>
        <p:nvSpPr>
          <p:cNvPr id="106" name="Text 95">
            <a:extLst>
              <a:ext uri="{FF2B5EF4-FFF2-40B4-BE49-F238E27FC236}">
                <a16:creationId xmlns:a16="http://schemas.microsoft.com/office/drawing/2014/main" id="{CC7BF8BC-C6E3-CF65-7CA8-5944C0BDE22E}"/>
              </a:ext>
            </a:extLst>
          </p:cNvPr>
          <p:cNvSpPr/>
          <p:nvPr/>
        </p:nvSpPr>
        <p:spPr>
          <a:xfrm>
            <a:off x="6385919" y="9209661"/>
            <a:ext cx="427795" cy="130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675" kern="0" spc="149" dirty="0">
                <a:solidFill>
                  <a:srgbClr val="8A7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01/01</a:t>
            </a:r>
            <a:endParaRPr lang="en-US" sz="675" dirty="0"/>
          </a:p>
        </p:txBody>
      </p:sp>
      <p:sp>
        <p:nvSpPr>
          <p:cNvPr id="107" name="Text 96">
            <a:extLst>
              <a:ext uri="{FF2B5EF4-FFF2-40B4-BE49-F238E27FC236}">
                <a16:creationId xmlns:a16="http://schemas.microsoft.com/office/drawing/2014/main" id="{0EA300C5-5C24-4A1B-152C-7247A22BD355}"/>
              </a:ext>
            </a:extLst>
          </p:cNvPr>
          <p:cNvSpPr/>
          <p:nvPr/>
        </p:nvSpPr>
        <p:spPr>
          <a:xfrm>
            <a:off x="812712" y="9397276"/>
            <a:ext cx="6102546" cy="847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kern="0" spc="-27" dirty="0">
                <a:solidFill>
                  <a:srgbClr val="EDE4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Digitale Identität ist kein Foto. Sie ist eine </a:t>
            </a:r>
            <a:r>
              <a:rPr lang="en-US" sz="1800" i="1" kern="0" spc="-27" dirty="0">
                <a:solidFill>
                  <a:srgbClr val="C98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Montage aus fünf Schichten </a:t>
            </a:r>
            <a:r>
              <a:rPr lang="en-US" sz="1800" kern="0" spc="-27" dirty="0">
                <a:solidFill>
                  <a:srgbClr val="EDE4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und wer ihre Fugen kennt, trifft bessere Entscheidungen über das eigene Bild im Netz.</a:t>
            </a:r>
            <a:endParaRPr lang="en-US" sz="1800" dirty="0"/>
          </a:p>
        </p:txBody>
      </p:sp>
      <p:sp>
        <p:nvSpPr>
          <p:cNvPr id="108" name="Text 97">
            <a:extLst>
              <a:ext uri="{FF2B5EF4-FFF2-40B4-BE49-F238E27FC236}">
                <a16:creationId xmlns:a16="http://schemas.microsoft.com/office/drawing/2014/main" id="{8704B525-CF31-989A-27AF-6148A1C231A2}"/>
              </a:ext>
            </a:extLst>
          </p:cNvPr>
          <p:cNvSpPr/>
          <p:nvPr/>
        </p:nvSpPr>
        <p:spPr>
          <a:xfrm>
            <a:off x="6201282" y="9095380"/>
            <a:ext cx="707682" cy="130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638" kern="0" spc="115" dirty="0">
                <a:solidFill>
                  <a:srgbClr val="8A7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FOLIO · 01</a:t>
            </a:r>
            <a:endParaRPr lang="en-US" sz="638" dirty="0"/>
          </a:p>
        </p:txBody>
      </p:sp>
      <p:sp>
        <p:nvSpPr>
          <p:cNvPr id="109" name="Shape 98">
            <a:extLst>
              <a:ext uri="{FF2B5EF4-FFF2-40B4-BE49-F238E27FC236}">
                <a16:creationId xmlns:a16="http://schemas.microsoft.com/office/drawing/2014/main" id="{20AAA7BF-65F2-D5A8-F0F1-1DC11A4FE999}"/>
              </a:ext>
            </a:extLst>
          </p:cNvPr>
          <p:cNvSpPr/>
          <p:nvPr/>
        </p:nvSpPr>
        <p:spPr>
          <a:xfrm>
            <a:off x="546084" y="10606301"/>
            <a:ext cx="6458058" cy="9525"/>
          </a:xfrm>
          <a:prstGeom prst="rect">
            <a:avLst/>
          </a:prstGeom>
          <a:solidFill>
            <a:srgbClr val="1A161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0" name="Text 99">
            <a:extLst>
              <a:ext uri="{FF2B5EF4-FFF2-40B4-BE49-F238E27FC236}">
                <a16:creationId xmlns:a16="http://schemas.microsoft.com/office/drawing/2014/main" id="{4F8B4F64-29B8-E22C-759F-E6BDC9C82C84}"/>
              </a:ext>
            </a:extLst>
          </p:cNvPr>
          <p:cNvSpPr/>
          <p:nvPr/>
        </p:nvSpPr>
        <p:spPr>
          <a:xfrm>
            <a:off x="546084" y="10745387"/>
            <a:ext cx="2470168" cy="222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675" kern="0" spc="101" dirty="0">
                <a:solidFill>
                  <a:srgbClr val="1A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UNTERRICHTSMATERIAL · MEDIENBILDUNG · SEK I / II</a:t>
            </a:r>
            <a:endParaRPr lang="en-US" sz="675" dirty="0"/>
          </a:p>
        </p:txBody>
      </p:sp>
      <p:sp>
        <p:nvSpPr>
          <p:cNvPr id="111" name="Text 100">
            <a:extLst>
              <a:ext uri="{FF2B5EF4-FFF2-40B4-BE49-F238E27FC236}">
                <a16:creationId xmlns:a16="http://schemas.microsoft.com/office/drawing/2014/main" id="{6046A2BC-2BBA-7161-ACFC-DCCF5187D64C}"/>
              </a:ext>
            </a:extLst>
          </p:cNvPr>
          <p:cNvSpPr/>
          <p:nvPr/>
        </p:nvSpPr>
        <p:spPr>
          <a:xfrm>
            <a:off x="3092452" y="10745387"/>
            <a:ext cx="1917700" cy="222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675" kern="0" spc="101" dirty="0">
                <a:solidFill>
                  <a:srgbClr val="8A7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AUSGABE 04 · APRIL 2026</a:t>
            </a:r>
            <a:endParaRPr lang="en-US" sz="675" dirty="0"/>
          </a:p>
        </p:txBody>
      </p:sp>
      <p:sp>
        <p:nvSpPr>
          <p:cNvPr id="112" name="Text 101">
            <a:extLst>
              <a:ext uri="{FF2B5EF4-FFF2-40B4-BE49-F238E27FC236}">
                <a16:creationId xmlns:a16="http://schemas.microsoft.com/office/drawing/2014/main" id="{2F3E842A-FB2C-ACEF-1D96-04AFCD69A3F1}"/>
              </a:ext>
            </a:extLst>
          </p:cNvPr>
          <p:cNvSpPr/>
          <p:nvPr/>
        </p:nvSpPr>
        <p:spPr>
          <a:xfrm>
            <a:off x="5086351" y="10745387"/>
            <a:ext cx="1917700" cy="222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675" kern="0" spc="101" dirty="0">
                <a:solidFill>
                  <a:srgbClr val="8A7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SEITE 01 / 01</a:t>
            </a:r>
            <a:endParaRPr lang="en-US" sz="675" dirty="0"/>
          </a:p>
        </p:txBody>
      </p:sp>
    </p:spTree>
    <p:extLst>
      <p:ext uri="{BB962C8B-B14F-4D97-AF65-F5344CB8AC3E}">
        <p14:creationId xmlns:p14="http://schemas.microsoft.com/office/powerpoint/2010/main" val="1385242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871</Words>
  <Application>Microsoft Office PowerPoint</Application>
  <PresentationFormat>Benutzerdefiniert</PresentationFormat>
  <Paragraphs>124</Paragraphs>
  <Slides>2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Courier New</vt:lpstr>
      <vt:lpstr>Georgia</vt:lpstr>
      <vt:lpstr>Office Theme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Michael Kohl</cp:lastModifiedBy>
  <cp:revision>2</cp:revision>
  <dcterms:created xsi:type="dcterms:W3CDTF">2026-04-22T19:00:14Z</dcterms:created>
  <dcterms:modified xsi:type="dcterms:W3CDTF">2026-05-11T13:46:19Z</dcterms:modified>
</cp:coreProperties>
</file>